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84" r:id="rId2"/>
    <p:sldId id="281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82" r:id="rId13"/>
    <p:sldId id="268" r:id="rId14"/>
    <p:sldId id="269" r:id="rId15"/>
    <p:sldId id="270" r:id="rId16"/>
    <p:sldId id="283" r:id="rId17"/>
    <p:sldId id="272" r:id="rId18"/>
    <p:sldId id="280" r:id="rId19"/>
    <p:sldId id="274" r:id="rId20"/>
    <p:sldId id="275" r:id="rId21"/>
    <p:sldId id="285" r:id="rId22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39" d="100"/>
          <a:sy n="39" d="100"/>
        </p:scale>
        <p:origin x="52" y="3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847963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Tahoma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Tahoma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Tahoma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Tahoma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Tahoma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Tahoma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Tahoma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Tahoma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Tahoma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3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D581D38-3C66-4B91-8666-DD8E6A009708}"/>
              </a:ext>
            </a:extLst>
          </p:cNvPr>
          <p:cNvSpPr/>
          <p:nvPr/>
        </p:nvSpPr>
        <p:spPr>
          <a:xfrm>
            <a:off x="12954000" y="0"/>
            <a:ext cx="5334000" cy="10287000"/>
          </a:xfrm>
          <a:prstGeom prst="rect">
            <a:avLst/>
          </a:prstGeom>
          <a:solidFill>
            <a:srgbClr val="23211E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" name="Text 0"/>
          <p:cNvSpPr/>
          <p:nvPr/>
        </p:nvSpPr>
        <p:spPr>
          <a:xfrm>
            <a:off x="1315641" y="3638550"/>
            <a:ext cx="11430000" cy="1276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80579"/>
              </a:lnSpc>
              <a:buNone/>
            </a:pPr>
            <a:r>
              <a:rPr lang="en-US" sz="10500" kern="0" spc="-158">
                <a:solidFill>
                  <a:srgbClr val="201F1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Laddha Enterprises</a:t>
            </a:r>
            <a:endParaRPr lang="en-US" sz="10500" dirty="0"/>
          </a:p>
        </p:txBody>
      </p:sp>
      <p:sp>
        <p:nvSpPr>
          <p:cNvPr id="3" name="Text 1"/>
          <p:cNvSpPr/>
          <p:nvPr/>
        </p:nvSpPr>
        <p:spPr>
          <a:xfrm>
            <a:off x="1371600" y="5276850"/>
            <a:ext cx="11176000" cy="1524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8333"/>
              </a:lnSpc>
              <a:buNone/>
            </a:pPr>
            <a:r>
              <a:rPr lang="en-US" sz="2800">
                <a:solidFill>
                  <a:srgbClr val="211F1D">
                    <a:alpha val="55000"/>
                  </a:srgbClr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Civil construction services — buildings, roads, highways, electrical works, water supply and turnkey solutions for all infrastructure needs. Established in Kota, Rajasthan, in 2008.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322538" y="9250660"/>
            <a:ext cx="133350" cy="19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47500" lnSpcReduction="20000"/>
          </a:bodyPr>
          <a:lstStyle/>
          <a:p>
            <a:pPr marL="0" indent="0" algn="l">
              <a:lnSpc>
                <a:spcPct val="132857"/>
              </a:lnSpc>
              <a:buNone/>
            </a:pPr>
            <a:r>
              <a:rPr lang="en-US" sz="1800">
                <a:solidFill>
                  <a:srgbClr val="6E6A6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·</a:t>
            </a:r>
            <a:endParaRPr lang="en-US" sz="1800" dirty="0">
              <a:solidFill>
                <a:srgbClr val="6E6A63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AC41488-45BC-4B83-9339-87EC6BE89A4A}"/>
              </a:ext>
            </a:extLst>
          </p:cNvPr>
          <p:cNvSpPr/>
          <p:nvPr/>
        </p:nvSpPr>
        <p:spPr>
          <a:xfrm>
            <a:off x="1371600" y="3098800"/>
            <a:ext cx="812800" cy="88900"/>
          </a:xfrm>
          <a:prstGeom prst="rect">
            <a:avLst/>
          </a:prstGeom>
          <a:solidFill>
            <a:srgbClr val="B6823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5E1E4C5-9C89-4279-A405-6B0449984CA7}"/>
              </a:ext>
            </a:extLst>
          </p:cNvPr>
          <p:cNvSpPr txBox="1"/>
          <p:nvPr/>
        </p:nvSpPr>
        <p:spPr>
          <a:xfrm>
            <a:off x="13766800" y="3911600"/>
            <a:ext cx="3810000" cy="3556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1400">
                <a:solidFill>
                  <a:srgbClr val="DCD8D1"/>
                </a:solidFill>
                <a:latin typeface="Tahoma"/>
                <a:ea typeface="Tahoma"/>
                <a:cs typeface="Tahoma"/>
              </a:rPr>
              <a:t>ESTABLISHED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C619E16-A68B-495D-845A-B68E1DE8BDC7}"/>
              </a:ext>
            </a:extLst>
          </p:cNvPr>
          <p:cNvSpPr txBox="1"/>
          <p:nvPr/>
        </p:nvSpPr>
        <p:spPr>
          <a:xfrm>
            <a:off x="13690600" y="4267200"/>
            <a:ext cx="4191000" cy="17780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9600">
                <a:solidFill>
                  <a:srgbClr val="B68235"/>
                </a:solidFill>
                <a:latin typeface="Tahoma"/>
                <a:ea typeface="Tahoma"/>
                <a:cs typeface="Tahoma"/>
              </a:rPr>
              <a:t>2008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EEF4134-2DAA-493E-86C4-0904DB38BBD7}"/>
              </a:ext>
            </a:extLst>
          </p:cNvPr>
          <p:cNvSpPr txBox="1"/>
          <p:nvPr/>
        </p:nvSpPr>
        <p:spPr>
          <a:xfrm>
            <a:off x="13766800" y="6070600"/>
            <a:ext cx="3810000" cy="3556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1500">
                <a:solidFill>
                  <a:srgbClr val="DCD8D1"/>
                </a:solidFill>
                <a:latin typeface="Tahoma"/>
                <a:ea typeface="Tahoma"/>
                <a:cs typeface="Tahoma"/>
              </a:rPr>
              <a:t>Kota, Rajasthan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70550FB-7BF9-49E5-8338-C68B7B63ECFC}"/>
              </a:ext>
            </a:extLst>
          </p:cNvPr>
          <p:cNvSpPr/>
          <p:nvPr/>
        </p:nvSpPr>
        <p:spPr>
          <a:xfrm>
            <a:off x="13766800" y="8483600"/>
            <a:ext cx="508000" cy="50800"/>
          </a:xfrm>
          <a:prstGeom prst="rect">
            <a:avLst/>
          </a:prstGeom>
          <a:solidFill>
            <a:srgbClr val="B6823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D2009D9-BFC8-4A74-B625-F656C3FCC2FE}"/>
              </a:ext>
            </a:extLst>
          </p:cNvPr>
          <p:cNvSpPr txBox="1"/>
          <p:nvPr/>
        </p:nvSpPr>
        <p:spPr>
          <a:xfrm>
            <a:off x="13766800" y="8737600"/>
            <a:ext cx="4064000" cy="3048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1500">
                <a:solidFill>
                  <a:srgbClr val="DCD8D1"/>
                </a:solidFill>
                <a:latin typeface="Tahoma"/>
                <a:ea typeface="Tahoma"/>
                <a:cs typeface="Tahoma"/>
              </a:rPr>
              <a:t>+91 98293 54600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58AF1FA-C335-4204-A560-2C5BED6DA5A0}"/>
              </a:ext>
            </a:extLst>
          </p:cNvPr>
          <p:cNvSpPr txBox="1"/>
          <p:nvPr/>
        </p:nvSpPr>
        <p:spPr>
          <a:xfrm>
            <a:off x="13766800" y="9067800"/>
            <a:ext cx="4064000" cy="3048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1500">
                <a:solidFill>
                  <a:srgbClr val="DCD8D1"/>
                </a:solidFill>
                <a:latin typeface="Tahoma"/>
                <a:ea typeface="Tahoma"/>
                <a:cs typeface="Tahoma"/>
              </a:rPr>
              <a:t>laddha.ankit1986@gmail.com</a:t>
            </a:r>
          </a:p>
        </p:txBody>
      </p:sp>
    </p:spTree>
    <p:extLst>
      <p:ext uri="{BB962C8B-B14F-4D97-AF65-F5344CB8AC3E}">
        <p14:creationId xmlns:p14="http://schemas.microsoft.com/office/powerpoint/2010/main" val="39042486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41239" y="1528763"/>
            <a:ext cx="17132677" cy="4905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0000" lnSpcReduction="20000"/>
          </a:bodyPr>
          <a:lstStyle/>
          <a:p>
            <a:pPr marL="0" indent="0" algn="l">
              <a:lnSpc>
                <a:spcPct val="89313"/>
              </a:lnSpc>
              <a:buNone/>
            </a:pPr>
            <a:r>
              <a:rPr lang="en-US" sz="5700" kern="0" spc="-57">
                <a:solidFill>
                  <a:srgbClr val="201F1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Contents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1371600" y="3467100"/>
            <a:ext cx="15544800" cy="9525"/>
          </a:xfrm>
          <a:prstGeom prst="rect">
            <a:avLst/>
          </a:prstGeom>
          <a:solidFill>
            <a:srgbClr val="1F1F1F">
              <a:alpha val="16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371600" y="4949627"/>
            <a:ext cx="15544800" cy="9525"/>
          </a:xfrm>
          <a:prstGeom prst="rect">
            <a:avLst/>
          </a:prstGeom>
          <a:solidFill>
            <a:srgbClr val="1F1F1F">
              <a:alpha val="16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371600" y="3962400"/>
            <a:ext cx="762000" cy="508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l">
              <a:lnSpc>
                <a:spcPct val="132857"/>
              </a:lnSpc>
              <a:buNone/>
            </a:pPr>
            <a:r>
              <a:rPr lang="en-US" sz="2400">
                <a:solidFill>
                  <a:srgbClr val="B6823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01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2540000" y="3886200"/>
            <a:ext cx="8890000" cy="635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l">
              <a:lnSpc>
                <a:spcPct val="135625"/>
              </a:lnSpc>
              <a:buNone/>
            </a:pPr>
            <a:r>
              <a:rPr lang="en-US" sz="3200">
                <a:solidFill>
                  <a:srgbClr val="201F1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The company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1371600" y="6432153"/>
            <a:ext cx="15544800" cy="9525"/>
          </a:xfrm>
          <a:prstGeom prst="rect">
            <a:avLst/>
          </a:prstGeom>
          <a:solidFill>
            <a:srgbClr val="1F1F1F">
              <a:alpha val="16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371600" y="5448300"/>
            <a:ext cx="762000" cy="508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l">
              <a:lnSpc>
                <a:spcPct val="132857"/>
              </a:lnSpc>
              <a:buNone/>
            </a:pPr>
            <a:r>
              <a:rPr lang="en-US" sz="2400">
                <a:solidFill>
                  <a:srgbClr val="B6823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02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2540000" y="5372100"/>
            <a:ext cx="8890000" cy="635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l">
              <a:lnSpc>
                <a:spcPct val="135625"/>
              </a:lnSpc>
              <a:buNone/>
            </a:pPr>
            <a:r>
              <a:rPr lang="en-US" sz="3200">
                <a:solidFill>
                  <a:srgbClr val="201F1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Private projects</a:t>
            </a:r>
            <a:endParaRPr lang="en-US" sz="3200" dirty="0"/>
          </a:p>
        </p:txBody>
      </p:sp>
      <p:sp>
        <p:nvSpPr>
          <p:cNvPr id="10" name="Shape 8"/>
          <p:cNvSpPr/>
          <p:nvPr/>
        </p:nvSpPr>
        <p:spPr>
          <a:xfrm>
            <a:off x="1371600" y="7914680"/>
            <a:ext cx="15544800" cy="9525"/>
          </a:xfrm>
          <a:prstGeom prst="rect">
            <a:avLst/>
          </a:prstGeom>
          <a:solidFill>
            <a:srgbClr val="1F1F1F">
              <a:alpha val="16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371600" y="6921500"/>
            <a:ext cx="762000" cy="508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l">
              <a:lnSpc>
                <a:spcPct val="132857"/>
              </a:lnSpc>
              <a:buNone/>
            </a:pPr>
            <a:r>
              <a:rPr lang="en-US" sz="2400">
                <a:solidFill>
                  <a:srgbClr val="B6823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03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2540000" y="6845300"/>
            <a:ext cx="8890000" cy="635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l">
              <a:lnSpc>
                <a:spcPct val="135625"/>
              </a:lnSpc>
              <a:buNone/>
            </a:pPr>
            <a:r>
              <a:rPr lang="en-US" sz="3200">
                <a:solidFill>
                  <a:srgbClr val="201F1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Government works</a:t>
            </a:r>
            <a:endParaRPr lang="en-US" sz="3200" dirty="0"/>
          </a:p>
        </p:txBody>
      </p:sp>
      <p:sp>
        <p:nvSpPr>
          <p:cNvPr id="13" name="Shape 11"/>
          <p:cNvSpPr/>
          <p:nvPr/>
        </p:nvSpPr>
        <p:spPr>
          <a:xfrm>
            <a:off x="1371600" y="9397207"/>
            <a:ext cx="15544800" cy="9525"/>
          </a:xfrm>
          <a:prstGeom prst="rect">
            <a:avLst/>
          </a:prstGeom>
          <a:solidFill>
            <a:srgbClr val="1F1F1F">
              <a:alpha val="16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371600" y="8407400"/>
            <a:ext cx="762000" cy="508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l">
              <a:lnSpc>
                <a:spcPct val="132857"/>
              </a:lnSpc>
              <a:buNone/>
            </a:pPr>
            <a:r>
              <a:rPr lang="en-US" sz="2400">
                <a:solidFill>
                  <a:srgbClr val="B6823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04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2540000" y="8331200"/>
            <a:ext cx="8890000" cy="635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l">
              <a:lnSpc>
                <a:spcPct val="135625"/>
              </a:lnSpc>
              <a:buNone/>
            </a:pPr>
            <a:r>
              <a:rPr lang="en-US" sz="3200">
                <a:solidFill>
                  <a:srgbClr val="201F1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Capability and clients</a:t>
            </a:r>
            <a:endParaRPr lang="en-US" sz="32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6080C73-7B37-48B2-BA74-1A99D1AFD20F}"/>
              </a:ext>
            </a:extLst>
          </p:cNvPr>
          <p:cNvSpPr txBox="1"/>
          <p:nvPr/>
        </p:nvSpPr>
        <p:spPr>
          <a:xfrm>
            <a:off x="1371600" y="9728200"/>
            <a:ext cx="6604000" cy="3810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>
                <a:solidFill>
                  <a:srgbClr val="6E6B66"/>
                </a:solidFill>
                <a:latin typeface="Tahoma"/>
                <a:ea typeface="Tahoma"/>
                <a:cs typeface="Tahoma"/>
              </a:rPr>
              <a:t>Laddha Enterprises — Company Profile</a:t>
            </a:r>
          </a:p>
        </p:txBody>
      </p:sp>
    </p:spTree>
    <p:extLst>
      <p:ext uri="{BB962C8B-B14F-4D97-AF65-F5344CB8AC3E}">
        <p14:creationId xmlns:p14="http://schemas.microsoft.com/office/powerpoint/2010/main" val="371905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625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51645" y="3440906"/>
            <a:ext cx="2992418" cy="2609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78337"/>
              </a:lnSpc>
              <a:buNone/>
            </a:pPr>
            <a:r>
              <a:rPr lang="en-US" sz="22500" kern="0" spc="-337">
                <a:solidFill>
                  <a:srgbClr val="B6823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01</a:t>
            </a:r>
            <a:endParaRPr lang="en-US" sz="22500" dirty="0"/>
          </a:p>
        </p:txBody>
      </p:sp>
      <p:sp>
        <p:nvSpPr>
          <p:cNvPr id="3" name="Text 1"/>
          <p:cNvSpPr/>
          <p:nvPr/>
        </p:nvSpPr>
        <p:spPr>
          <a:xfrm>
            <a:off x="1341239" y="6507956"/>
            <a:ext cx="4135993" cy="4905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0000" lnSpcReduction="20000"/>
          </a:bodyPr>
          <a:lstStyle/>
          <a:p>
            <a:pPr marL="0" indent="0" algn="l">
              <a:lnSpc>
                <a:spcPct val="89313"/>
              </a:lnSpc>
              <a:buNone/>
            </a:pPr>
            <a:r>
              <a:rPr lang="en-US" sz="5700" kern="0" spc="-57">
                <a:solidFill>
                  <a:srgbClr val="F3F2F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The Company</a:t>
            </a:r>
            <a:endParaRPr lang="en-US" sz="5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41239" y="1528763"/>
            <a:ext cx="17132677" cy="4905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0000" lnSpcReduction="20000"/>
          </a:bodyPr>
          <a:lstStyle/>
          <a:p>
            <a:pPr marL="0" indent="0" algn="l">
              <a:lnSpc>
                <a:spcPct val="89313"/>
              </a:lnSpc>
              <a:buNone/>
            </a:pPr>
            <a:r>
              <a:rPr lang="en-US" sz="5700" kern="0" spc="-57">
                <a:solidFill>
                  <a:srgbClr val="201F1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Company overview</a:t>
            </a:r>
            <a:endParaRPr lang="en-US" sz="5700" dirty="0"/>
          </a:p>
        </p:txBody>
      </p:sp>
      <p:sp>
        <p:nvSpPr>
          <p:cNvPr id="3" name="Text 1"/>
          <p:cNvSpPr/>
          <p:nvPr/>
        </p:nvSpPr>
        <p:spPr>
          <a:xfrm>
            <a:off x="1371600" y="3181350"/>
            <a:ext cx="800481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62500" lnSpcReduction="20000"/>
          </a:bodyPr>
          <a:lstStyle/>
          <a:p>
            <a:pPr marL="0" indent="0" algn="l">
              <a:lnSpc>
                <a:spcPct val="95122"/>
              </a:lnSpc>
              <a:buNone/>
            </a:pPr>
            <a:r>
              <a:rPr lang="en-US" sz="3600" kern="0" spc="-54">
                <a:solidFill>
                  <a:srgbClr val="201F1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The firm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1371600" y="3762375"/>
            <a:ext cx="7495413" cy="2219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250">
                <a:solidFill>
                  <a:srgbClr val="201F1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Established in Kota, Rajasthan, in 2008, Laddha Enterprises provides civil construction services across buildings, roads, highways and industrial roads — for private developers and government bodies across the Hadoti region.</a:t>
            </a:r>
            <a:endParaRPr lang="en-US" sz="2250"/>
          </a:p>
        </p:txBody>
      </p:sp>
      <p:sp>
        <p:nvSpPr>
          <p:cNvPr id="5" name="Text 3"/>
          <p:cNvSpPr/>
          <p:nvPr/>
        </p:nvSpPr>
        <p:spPr>
          <a:xfrm>
            <a:off x="9639300" y="3181350"/>
            <a:ext cx="800481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62500" lnSpcReduction="20000"/>
          </a:bodyPr>
          <a:lstStyle/>
          <a:p>
            <a:pPr marL="0" indent="0" algn="l">
              <a:lnSpc>
                <a:spcPct val="95122"/>
              </a:lnSpc>
              <a:buNone/>
            </a:pPr>
            <a:r>
              <a:rPr lang="en-US" sz="3600" kern="0" spc="-54">
                <a:solidFill>
                  <a:srgbClr val="201F1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Leadership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9639300" y="3762375"/>
            <a:ext cx="7495413" cy="1724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250">
                <a:solidFill>
                  <a:srgbClr val="201F1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The team is managed and guided by Mr. Ashok Laddha, whose thirty-six years in civil engineering services anchor the firm’s planning, execution and client relationships.</a:t>
            </a:r>
            <a:endParaRPr lang="en-US" sz="225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EBA53DC-FDBD-4399-A6A9-63FED24EA421}"/>
              </a:ext>
            </a:extLst>
          </p:cNvPr>
          <p:cNvSpPr txBox="1"/>
          <p:nvPr/>
        </p:nvSpPr>
        <p:spPr>
          <a:xfrm>
            <a:off x="1371600" y="9728200"/>
            <a:ext cx="6604000" cy="3810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>
                <a:solidFill>
                  <a:srgbClr val="6E6B66"/>
                </a:solidFill>
                <a:latin typeface="Tahoma"/>
                <a:ea typeface="Tahoma"/>
                <a:cs typeface="Tahoma"/>
              </a:rPr>
              <a:t>Laddha Enterprises — Company Profile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41239" y="1528763"/>
            <a:ext cx="17132677" cy="4905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0000" lnSpcReduction="20000"/>
          </a:bodyPr>
          <a:lstStyle/>
          <a:p>
            <a:pPr marL="0" indent="0" algn="l">
              <a:lnSpc>
                <a:spcPct val="89313"/>
              </a:lnSpc>
              <a:buNone/>
            </a:pPr>
            <a:r>
              <a:rPr lang="en-US" sz="5700" kern="0" spc="-57">
                <a:solidFill>
                  <a:srgbClr val="201F1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Quality assurance</a:t>
            </a:r>
            <a:endParaRPr lang="en-US" sz="5700" dirty="0"/>
          </a:p>
        </p:txBody>
      </p:sp>
      <p:sp>
        <p:nvSpPr>
          <p:cNvPr id="3" name="Text 1"/>
          <p:cNvSpPr/>
          <p:nvPr/>
        </p:nvSpPr>
        <p:spPr>
          <a:xfrm>
            <a:off x="1131570" y="3722291"/>
            <a:ext cx="11746230" cy="47355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5806"/>
              </a:lnSpc>
              <a:buNone/>
            </a:pPr>
            <a:r>
              <a:rPr lang="en-US" sz="2700">
                <a:solidFill>
                  <a:srgbClr val="201F1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Raw material procured from quality-driven suppliers and checked at our own inspection unit</a:t>
            </a:r>
            <a:endParaRPr lang="en-US" sz="2700" dirty="0"/>
          </a:p>
          <a:p>
            <a:pPr marL="0" indent="0" algn="l">
              <a:lnSpc>
                <a:spcPct val="125806"/>
              </a:lnSpc>
              <a:buNone/>
            </a:pPr>
            <a:r>
              <a:rPr lang="en-US" sz="2700">
                <a:solidFill>
                  <a:srgbClr val="201F1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Delivery to the client’s specification, meeting international quality standards</a:t>
            </a:r>
            <a:endParaRPr lang="en-US" sz="2700" dirty="0"/>
          </a:p>
          <a:p>
            <a:pPr marL="0" indent="0" algn="l">
              <a:lnSpc>
                <a:spcPct val="125806"/>
              </a:lnSpc>
              <a:buNone/>
            </a:pPr>
            <a:r>
              <a:rPr lang="en-US" sz="2700">
                <a:solidFill>
                  <a:srgbClr val="201F1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Consistent quality improvement with innovative, cost-effective methods</a:t>
            </a:r>
            <a:endParaRPr lang="en-US" sz="2700" dirty="0"/>
          </a:p>
          <a:p>
            <a:pPr marL="0" indent="0" algn="l">
              <a:lnSpc>
                <a:spcPct val="125806"/>
              </a:lnSpc>
              <a:buNone/>
            </a:pPr>
            <a:r>
              <a:rPr lang="en-US" sz="2700">
                <a:solidFill>
                  <a:srgbClr val="201F1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Timely execution of every service undertaken</a:t>
            </a:r>
            <a:endParaRPr lang="en-US" sz="27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2E2BAEA-F816-44EE-9BE1-B6F7F7D49A8F}"/>
              </a:ext>
            </a:extLst>
          </p:cNvPr>
          <p:cNvSpPr txBox="1"/>
          <p:nvPr/>
        </p:nvSpPr>
        <p:spPr>
          <a:xfrm>
            <a:off x="1371600" y="9728200"/>
            <a:ext cx="6604000" cy="3810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>
                <a:solidFill>
                  <a:srgbClr val="6E6B66"/>
                </a:solidFill>
                <a:latin typeface="Tahoma"/>
                <a:ea typeface="Tahoma"/>
                <a:cs typeface="Tahoma"/>
              </a:rPr>
              <a:t>Laddha Enterprises — Company Profile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625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51645" y="3440906"/>
            <a:ext cx="2992418" cy="2609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78337"/>
              </a:lnSpc>
              <a:buNone/>
            </a:pPr>
            <a:r>
              <a:rPr lang="en-US" sz="22500" kern="0" spc="-337">
                <a:solidFill>
                  <a:srgbClr val="B6823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02</a:t>
            </a:r>
            <a:endParaRPr lang="en-US" sz="22500" dirty="0"/>
          </a:p>
        </p:txBody>
      </p:sp>
      <p:sp>
        <p:nvSpPr>
          <p:cNvPr id="3" name="Text 1"/>
          <p:cNvSpPr/>
          <p:nvPr/>
        </p:nvSpPr>
        <p:spPr>
          <a:xfrm>
            <a:off x="1341239" y="6507956"/>
            <a:ext cx="4719350" cy="4905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0000" lnSpcReduction="20000"/>
          </a:bodyPr>
          <a:lstStyle/>
          <a:p>
            <a:pPr marL="0" indent="0" algn="l">
              <a:lnSpc>
                <a:spcPct val="89313"/>
              </a:lnSpc>
              <a:buNone/>
            </a:pPr>
            <a:r>
              <a:rPr lang="en-US" sz="5700" kern="0" spc="-57">
                <a:solidFill>
                  <a:srgbClr val="F3F2F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Private Projects</a:t>
            </a:r>
            <a:endParaRPr lang="en-US" sz="5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287000"/>
          </a:xfrm>
          <a:prstGeom prst="rect">
            <a:avLst/>
          </a:prstGeom>
          <a:solidFill>
            <a:srgbClr val="7F7F7F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 l="31946" r="31946"/>
          <a:stretch/>
        </p:blipFill>
        <p:spPr>
          <a:xfrm>
            <a:off x="0" y="0"/>
            <a:ext cx="9144000" cy="102870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485140" y="1528763"/>
            <a:ext cx="6705600" cy="4905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0000" lnSpcReduction="20000"/>
          </a:bodyPr>
          <a:lstStyle/>
          <a:p>
            <a:pPr marL="0" indent="0" algn="l">
              <a:lnSpc>
                <a:spcPct val="89313"/>
              </a:lnSpc>
              <a:buNone/>
            </a:pPr>
            <a:r>
              <a:rPr lang="en-US" sz="5700" kern="0" spc="-57">
                <a:solidFill>
                  <a:srgbClr val="201F1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Landmark City</a:t>
            </a:r>
            <a:endParaRPr lang="en-US" sz="5700" dirty="0"/>
          </a:p>
        </p:txBody>
      </p:sp>
      <p:sp>
        <p:nvSpPr>
          <p:cNvPr id="5" name="Text 2"/>
          <p:cNvSpPr/>
          <p:nvPr/>
        </p:nvSpPr>
        <p:spPr>
          <a:xfrm>
            <a:off x="10275570" y="3722291"/>
            <a:ext cx="6412230" cy="47355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5806"/>
              </a:lnSpc>
              <a:buNone/>
            </a:pPr>
            <a:r>
              <a:rPr lang="en-US" sz="2700">
                <a:solidFill>
                  <a:srgbClr val="201F1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Complete road network for the coaching-hub township at Kota</a:t>
            </a:r>
            <a:endParaRPr lang="en-US" sz="2700" dirty="0"/>
          </a:p>
          <a:p>
            <a:pPr marL="0" indent="0" algn="l">
              <a:lnSpc>
                <a:spcPct val="125806"/>
              </a:lnSpc>
              <a:buNone/>
            </a:pPr>
            <a:r>
              <a:rPr lang="en-US" sz="2700">
                <a:solidFill>
                  <a:srgbClr val="201F1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22,675 cum excavation, 38,265 cum GSB, 15,675 cum WMM and CC</a:t>
            </a:r>
            <a:endParaRPr lang="en-US" sz="2700" dirty="0"/>
          </a:p>
          <a:p>
            <a:pPr marL="0" indent="0" algn="l">
              <a:lnSpc>
                <a:spcPct val="125806"/>
              </a:lnSpc>
              <a:buNone/>
            </a:pPr>
            <a:r>
              <a:rPr lang="en-US" sz="2700">
                <a:solidFill>
                  <a:srgbClr val="201F1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Masonry, PCC, hume pipe and 34,250 ferro covers</a:t>
            </a:r>
            <a:endParaRPr lang="en-US" sz="2700" dirty="0"/>
          </a:p>
          <a:p>
            <a:pPr marL="0" indent="0" algn="l">
              <a:lnSpc>
                <a:spcPct val="125806"/>
              </a:lnSpc>
              <a:buNone/>
            </a:pPr>
            <a:r>
              <a:rPr lang="en-US" sz="2700">
                <a:solidFill>
                  <a:srgbClr val="201F1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Work order value ₹10.64 Cr</a:t>
            </a:r>
            <a:endParaRPr lang="en-US" sz="27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C26BD74-1456-4CE0-8A81-9EC53F3ED52B}"/>
              </a:ext>
            </a:extLst>
          </p:cNvPr>
          <p:cNvSpPr txBox="1"/>
          <p:nvPr/>
        </p:nvSpPr>
        <p:spPr>
          <a:xfrm>
            <a:off x="1371600" y="9728200"/>
            <a:ext cx="6604000" cy="3810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>
                <a:solidFill>
                  <a:srgbClr val="6E6B66"/>
                </a:solidFill>
                <a:latin typeface="Tahoma"/>
                <a:ea typeface="Tahoma"/>
                <a:cs typeface="Tahoma"/>
              </a:rPr>
              <a:t>Laddha Enterprises — Company Profile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0" y="0"/>
            <a:ext cx="9144000" cy="10287000"/>
          </a:xfrm>
          <a:prstGeom prst="rect">
            <a:avLst/>
          </a:prstGeom>
          <a:solidFill>
            <a:srgbClr val="7F7F7F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 l="31485" r="31485"/>
          <a:stretch/>
        </p:blipFill>
        <p:spPr>
          <a:xfrm>
            <a:off x="9144000" y="0"/>
            <a:ext cx="9144000" cy="102870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41239" y="1528763"/>
            <a:ext cx="6705600" cy="4905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0000" lnSpcReduction="20000"/>
          </a:bodyPr>
          <a:lstStyle/>
          <a:p>
            <a:pPr marL="0" indent="0" algn="l">
              <a:lnSpc>
                <a:spcPct val="89313"/>
              </a:lnSpc>
              <a:buNone/>
            </a:pPr>
            <a:r>
              <a:rPr lang="en-US" sz="5700" kern="0" spc="-57">
                <a:solidFill>
                  <a:srgbClr val="201F1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Milestone Township</a:t>
            </a:r>
            <a:endParaRPr lang="en-US" sz="5700" dirty="0"/>
          </a:p>
        </p:txBody>
      </p:sp>
      <p:sp>
        <p:nvSpPr>
          <p:cNvPr id="5" name="Text 2"/>
          <p:cNvSpPr/>
          <p:nvPr/>
        </p:nvSpPr>
        <p:spPr>
          <a:xfrm>
            <a:off x="1131570" y="3722291"/>
            <a:ext cx="6412230" cy="32497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5806"/>
              </a:lnSpc>
              <a:buNone/>
            </a:pPr>
            <a:r>
              <a:rPr lang="en-US" sz="2700">
                <a:solidFill>
                  <a:srgbClr val="201F1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Township road work: 9,900 cum excavation, 12,000 cum GSB</a:t>
            </a:r>
            <a:endParaRPr lang="en-US" sz="2700" dirty="0"/>
          </a:p>
          <a:p>
            <a:pPr marL="0" indent="0" algn="l">
              <a:lnSpc>
                <a:spcPct val="125806"/>
              </a:lnSpc>
              <a:buNone/>
            </a:pPr>
            <a:r>
              <a:rPr lang="en-US" sz="2700">
                <a:solidFill>
                  <a:srgbClr val="201F1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22,500 sqm primer and tack coat, 1,125 cum bituminous macadam</a:t>
            </a:r>
            <a:endParaRPr lang="en-US" sz="2700" dirty="0"/>
          </a:p>
          <a:p>
            <a:pPr marL="0" indent="0" algn="l">
              <a:lnSpc>
                <a:spcPct val="125806"/>
              </a:lnSpc>
              <a:buNone/>
            </a:pPr>
            <a:r>
              <a:rPr lang="en-US" sz="2700">
                <a:solidFill>
                  <a:srgbClr val="201F1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Work order value ₹3.85 Cr</a:t>
            </a:r>
            <a:endParaRPr lang="en-US" sz="27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67170C8-39CA-4E5D-8DCC-927498DD0278}"/>
              </a:ext>
            </a:extLst>
          </p:cNvPr>
          <p:cNvSpPr txBox="1"/>
          <p:nvPr/>
        </p:nvSpPr>
        <p:spPr>
          <a:xfrm>
            <a:off x="1371600" y="9728200"/>
            <a:ext cx="6604000" cy="3810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>
                <a:solidFill>
                  <a:srgbClr val="6E6B66"/>
                </a:solidFill>
                <a:latin typeface="Tahoma"/>
                <a:ea typeface="Tahoma"/>
                <a:cs typeface="Tahoma"/>
              </a:rPr>
              <a:t>Laddha Enterprises — Company Profile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41239" y="1528763"/>
            <a:ext cx="17132677" cy="4905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0000" lnSpcReduction="20000"/>
          </a:bodyPr>
          <a:lstStyle/>
          <a:p>
            <a:pPr marL="0" indent="0" algn="l">
              <a:lnSpc>
                <a:spcPct val="89313"/>
              </a:lnSpc>
              <a:buNone/>
            </a:pPr>
            <a:r>
              <a:rPr lang="en-US" sz="5700" kern="0" spc="-57">
                <a:solidFill>
                  <a:srgbClr val="201F1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Private works portfolio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1371600" y="4444802"/>
            <a:ext cx="5334000" cy="9525"/>
          </a:xfrm>
          <a:prstGeom prst="rect">
            <a:avLst/>
          </a:prstGeom>
          <a:solidFill>
            <a:srgbClr val="1F1F1F">
              <a:alpha val="16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371600" y="3875763"/>
            <a:ext cx="5227320" cy="198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47500" lnSpcReduction="20000"/>
          </a:bodyPr>
          <a:lstStyle/>
          <a:p>
            <a:pPr marL="0" indent="0" algn="l">
              <a:lnSpc>
                <a:spcPct val="132857"/>
              </a:lnSpc>
              <a:buNone/>
            </a:pPr>
            <a:r>
              <a:rPr lang="en-US" sz="1800" b="1" kern="0" spc="144">
                <a:solidFill>
                  <a:srgbClr val="20201C">
                    <a:alpha val="60000"/>
                  </a:srgbClr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PROJECT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705600" y="4444802"/>
            <a:ext cx="5579368" cy="9525"/>
          </a:xfrm>
          <a:prstGeom prst="rect">
            <a:avLst/>
          </a:prstGeom>
          <a:solidFill>
            <a:srgbClr val="1F1F1F">
              <a:alpha val="16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972300" y="3875763"/>
            <a:ext cx="5213349" cy="198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47500" lnSpcReduction="20000"/>
          </a:bodyPr>
          <a:lstStyle/>
          <a:p>
            <a:pPr marL="0" indent="0" algn="l">
              <a:lnSpc>
                <a:spcPct val="132857"/>
              </a:lnSpc>
              <a:buNone/>
            </a:pPr>
            <a:r>
              <a:rPr lang="en-US" sz="1800" b="1" kern="0" spc="144">
                <a:solidFill>
                  <a:srgbClr val="20201C">
                    <a:alpha val="60000"/>
                  </a:srgbClr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SCOPE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2284969" y="4444802"/>
            <a:ext cx="3046016" cy="9525"/>
          </a:xfrm>
          <a:prstGeom prst="rect">
            <a:avLst/>
          </a:prstGeom>
          <a:solidFill>
            <a:srgbClr val="1F1F1F">
              <a:alpha val="16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2551669" y="3875763"/>
            <a:ext cx="2603996" cy="198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47500" lnSpcReduction="20000"/>
          </a:bodyPr>
          <a:lstStyle/>
          <a:p>
            <a:pPr marL="0" indent="0" algn="l">
              <a:lnSpc>
                <a:spcPct val="132857"/>
              </a:lnSpc>
              <a:buNone/>
            </a:pPr>
            <a:r>
              <a:rPr lang="en-US" sz="1800" b="1" kern="0" spc="144">
                <a:solidFill>
                  <a:srgbClr val="20201C">
                    <a:alpha val="60000"/>
                  </a:srgbClr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CLIENT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15330984" y="4444802"/>
            <a:ext cx="1585416" cy="9525"/>
          </a:xfrm>
          <a:prstGeom prst="rect">
            <a:avLst/>
          </a:prstGeom>
          <a:solidFill>
            <a:srgbClr val="1F1F1F">
              <a:alpha val="16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5597684" y="3875763"/>
            <a:ext cx="1394916" cy="19847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 fontScale="47500" lnSpcReduction="20000"/>
          </a:bodyPr>
          <a:lstStyle/>
          <a:p>
            <a:pPr marL="0" indent="0" algn="l">
              <a:lnSpc>
                <a:spcPct val="132857"/>
              </a:lnSpc>
              <a:buNone/>
            </a:pPr>
            <a:r>
              <a:rPr lang="en-US" sz="1800" b="1" kern="0" spc="144">
                <a:solidFill>
                  <a:srgbClr val="20201C">
                    <a:alpha val="60000"/>
                  </a:srgbClr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VALUE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1371600" y="5432227"/>
            <a:ext cx="5334000" cy="9525"/>
          </a:xfrm>
          <a:prstGeom prst="rect">
            <a:avLst/>
          </a:prstGeom>
          <a:solidFill>
            <a:srgbClr val="1F1F1F">
              <a:alpha val="16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371600" y="4841677"/>
            <a:ext cx="522732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47500" lnSpcReduction="20000"/>
          </a:bodyPr>
          <a:lstStyle/>
          <a:p>
            <a:pPr marL="0" indent="0" algn="l">
              <a:lnSpc>
                <a:spcPct val="134135"/>
              </a:lnSpc>
              <a:buNone/>
            </a:pPr>
            <a:r>
              <a:rPr lang="en-US" sz="2250">
                <a:solidFill>
                  <a:srgbClr val="201F1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Coral Park, Kota</a:t>
            </a:r>
            <a:endParaRPr lang="en-US" sz="2250" dirty="0"/>
          </a:p>
        </p:txBody>
      </p:sp>
      <p:sp>
        <p:nvSpPr>
          <p:cNvPr id="13" name="Shape 11"/>
          <p:cNvSpPr/>
          <p:nvPr/>
        </p:nvSpPr>
        <p:spPr>
          <a:xfrm>
            <a:off x="6705600" y="5432227"/>
            <a:ext cx="5579368" cy="9525"/>
          </a:xfrm>
          <a:prstGeom prst="rect">
            <a:avLst/>
          </a:prstGeom>
          <a:solidFill>
            <a:srgbClr val="1F1F1F">
              <a:alpha val="16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972300" y="4841677"/>
            <a:ext cx="5213349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47500" lnSpcReduction="20000"/>
          </a:bodyPr>
          <a:lstStyle/>
          <a:p>
            <a:pPr marL="0" indent="0" algn="l">
              <a:lnSpc>
                <a:spcPct val="134135"/>
              </a:lnSpc>
              <a:buNone/>
            </a:pPr>
            <a:r>
              <a:rPr lang="en-US" sz="2250">
                <a:solidFill>
                  <a:srgbClr val="201F1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Township roads and drainage</a:t>
            </a:r>
            <a:endParaRPr lang="en-US" sz="2250" dirty="0"/>
          </a:p>
        </p:txBody>
      </p:sp>
      <p:sp>
        <p:nvSpPr>
          <p:cNvPr id="15" name="Shape 13"/>
          <p:cNvSpPr/>
          <p:nvPr/>
        </p:nvSpPr>
        <p:spPr>
          <a:xfrm>
            <a:off x="12284969" y="5432227"/>
            <a:ext cx="3046016" cy="9525"/>
          </a:xfrm>
          <a:prstGeom prst="rect">
            <a:avLst/>
          </a:prstGeom>
          <a:solidFill>
            <a:srgbClr val="1F1F1F">
              <a:alpha val="16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2551669" y="4841677"/>
            <a:ext cx="2603996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47500" lnSpcReduction="20000"/>
          </a:bodyPr>
          <a:lstStyle/>
          <a:p>
            <a:pPr marL="0" indent="0" algn="l">
              <a:lnSpc>
                <a:spcPct val="134135"/>
              </a:lnSpc>
              <a:buNone/>
            </a:pPr>
            <a:r>
              <a:rPr lang="en-US" sz="2250">
                <a:solidFill>
                  <a:srgbClr val="201F1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Coaching hub</a:t>
            </a:r>
            <a:endParaRPr lang="en-US" sz="2250" dirty="0"/>
          </a:p>
        </p:txBody>
      </p:sp>
      <p:sp>
        <p:nvSpPr>
          <p:cNvPr id="17" name="Shape 15"/>
          <p:cNvSpPr/>
          <p:nvPr/>
        </p:nvSpPr>
        <p:spPr>
          <a:xfrm>
            <a:off x="15330984" y="5432227"/>
            <a:ext cx="1585416" cy="9525"/>
          </a:xfrm>
          <a:prstGeom prst="rect">
            <a:avLst/>
          </a:prstGeom>
          <a:solidFill>
            <a:srgbClr val="1F1F1F">
              <a:alpha val="16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15597684" y="4841677"/>
            <a:ext cx="1394916" cy="23812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 fontScale="47500" lnSpcReduction="20000"/>
          </a:bodyPr>
          <a:lstStyle/>
          <a:p>
            <a:pPr marL="0" indent="0" algn="l">
              <a:lnSpc>
                <a:spcPct val="134135"/>
              </a:lnSpc>
              <a:buNone/>
            </a:pPr>
            <a:r>
              <a:rPr lang="en-US" sz="2250">
                <a:solidFill>
                  <a:srgbClr val="201F1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₹6.50 Cr</a:t>
            </a:r>
            <a:endParaRPr lang="en-US" sz="2250" dirty="0"/>
          </a:p>
        </p:txBody>
      </p:sp>
      <p:sp>
        <p:nvSpPr>
          <p:cNvPr id="19" name="Shape 17"/>
          <p:cNvSpPr/>
          <p:nvPr/>
        </p:nvSpPr>
        <p:spPr>
          <a:xfrm>
            <a:off x="1371600" y="6419652"/>
            <a:ext cx="5334000" cy="9525"/>
          </a:xfrm>
          <a:prstGeom prst="rect">
            <a:avLst/>
          </a:prstGeom>
          <a:solidFill>
            <a:srgbClr val="1F1F1F">
              <a:alpha val="16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1371600" y="5829102"/>
            <a:ext cx="522732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47500" lnSpcReduction="20000"/>
          </a:bodyPr>
          <a:lstStyle/>
          <a:p>
            <a:pPr marL="0" indent="0" algn="l">
              <a:lnSpc>
                <a:spcPct val="134135"/>
              </a:lnSpc>
              <a:buNone/>
            </a:pPr>
            <a:r>
              <a:rPr lang="en-US" sz="2250">
                <a:solidFill>
                  <a:srgbClr val="201F1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Hanging Bridge approach</a:t>
            </a:r>
            <a:endParaRPr lang="en-US" sz="2250" dirty="0"/>
          </a:p>
        </p:txBody>
      </p:sp>
      <p:sp>
        <p:nvSpPr>
          <p:cNvPr id="21" name="Shape 19"/>
          <p:cNvSpPr/>
          <p:nvPr/>
        </p:nvSpPr>
        <p:spPr>
          <a:xfrm>
            <a:off x="6705600" y="6419652"/>
            <a:ext cx="5579368" cy="9525"/>
          </a:xfrm>
          <a:prstGeom prst="rect">
            <a:avLst/>
          </a:prstGeom>
          <a:solidFill>
            <a:srgbClr val="1F1F1F">
              <a:alpha val="16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972300" y="5829102"/>
            <a:ext cx="5213349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47500" lnSpcReduction="20000"/>
          </a:bodyPr>
          <a:lstStyle/>
          <a:p>
            <a:pPr marL="0" indent="0" algn="l">
              <a:lnSpc>
                <a:spcPct val="134135"/>
              </a:lnSpc>
              <a:buNone/>
            </a:pPr>
            <a:r>
              <a:rPr lang="en-US" sz="2250">
                <a:solidFill>
                  <a:srgbClr val="201F1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Bituminous surfacing, 53,333 sqm</a:t>
            </a:r>
            <a:endParaRPr lang="en-US" sz="2250" dirty="0"/>
          </a:p>
        </p:txBody>
      </p:sp>
      <p:sp>
        <p:nvSpPr>
          <p:cNvPr id="23" name="Shape 21"/>
          <p:cNvSpPr/>
          <p:nvPr/>
        </p:nvSpPr>
        <p:spPr>
          <a:xfrm>
            <a:off x="12284969" y="6419652"/>
            <a:ext cx="3046016" cy="9525"/>
          </a:xfrm>
          <a:prstGeom prst="rect">
            <a:avLst/>
          </a:prstGeom>
          <a:solidFill>
            <a:srgbClr val="1F1F1F">
              <a:alpha val="16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12551669" y="5829102"/>
            <a:ext cx="2603996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47500" lnSpcReduction="20000"/>
          </a:bodyPr>
          <a:lstStyle/>
          <a:p>
            <a:pPr marL="0" indent="0" algn="l">
              <a:lnSpc>
                <a:spcPct val="134135"/>
              </a:lnSpc>
              <a:buNone/>
            </a:pPr>
            <a:r>
              <a:rPr lang="en-US" sz="2250">
                <a:solidFill>
                  <a:srgbClr val="201F1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—</a:t>
            </a:r>
            <a:endParaRPr lang="en-US" sz="2250" dirty="0"/>
          </a:p>
        </p:txBody>
      </p:sp>
      <p:sp>
        <p:nvSpPr>
          <p:cNvPr id="25" name="Shape 23"/>
          <p:cNvSpPr/>
          <p:nvPr/>
        </p:nvSpPr>
        <p:spPr>
          <a:xfrm>
            <a:off x="15330984" y="6419652"/>
            <a:ext cx="1585416" cy="9525"/>
          </a:xfrm>
          <a:prstGeom prst="rect">
            <a:avLst/>
          </a:prstGeom>
          <a:solidFill>
            <a:srgbClr val="1F1F1F">
              <a:alpha val="16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15597684" y="5829102"/>
            <a:ext cx="1394916" cy="23812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 fontScale="47500" lnSpcReduction="20000"/>
          </a:bodyPr>
          <a:lstStyle/>
          <a:p>
            <a:pPr marL="0" indent="0" algn="l">
              <a:lnSpc>
                <a:spcPct val="134135"/>
              </a:lnSpc>
              <a:buNone/>
            </a:pPr>
            <a:r>
              <a:rPr lang="en-US" sz="2250">
                <a:solidFill>
                  <a:srgbClr val="201F1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₹4.20 Cr</a:t>
            </a:r>
            <a:endParaRPr lang="en-US" sz="2250" dirty="0"/>
          </a:p>
        </p:txBody>
      </p:sp>
      <p:sp>
        <p:nvSpPr>
          <p:cNvPr id="27" name="Shape 25"/>
          <p:cNvSpPr/>
          <p:nvPr/>
        </p:nvSpPr>
        <p:spPr>
          <a:xfrm>
            <a:off x="1371600" y="7407077"/>
            <a:ext cx="5334000" cy="9525"/>
          </a:xfrm>
          <a:prstGeom prst="rect">
            <a:avLst/>
          </a:prstGeom>
          <a:solidFill>
            <a:srgbClr val="1F1F1F">
              <a:alpha val="16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1371600" y="6816527"/>
            <a:ext cx="522732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47500" lnSpcReduction="20000"/>
          </a:bodyPr>
          <a:lstStyle/>
          <a:p>
            <a:pPr marL="0" indent="0" algn="l">
              <a:lnSpc>
                <a:spcPct val="134135"/>
              </a:lnSpc>
              <a:buNone/>
            </a:pPr>
            <a:r>
              <a:rPr lang="en-US" sz="2250">
                <a:solidFill>
                  <a:srgbClr val="201F1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Prem Nagar housing, Kota</a:t>
            </a:r>
            <a:endParaRPr lang="en-US" sz="2250" dirty="0"/>
          </a:p>
        </p:txBody>
      </p:sp>
      <p:sp>
        <p:nvSpPr>
          <p:cNvPr id="29" name="Shape 27"/>
          <p:cNvSpPr/>
          <p:nvPr/>
        </p:nvSpPr>
        <p:spPr>
          <a:xfrm>
            <a:off x="6705600" y="7407077"/>
            <a:ext cx="5579368" cy="9525"/>
          </a:xfrm>
          <a:prstGeom prst="rect">
            <a:avLst/>
          </a:prstGeom>
          <a:solidFill>
            <a:srgbClr val="1F1F1F">
              <a:alpha val="16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6972300" y="6816527"/>
            <a:ext cx="5213349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47500" lnSpcReduction="20000"/>
          </a:bodyPr>
          <a:lstStyle/>
          <a:p>
            <a:pPr marL="0" indent="0" algn="l">
              <a:lnSpc>
                <a:spcPct val="134135"/>
              </a:lnSpc>
              <a:buNone/>
            </a:pPr>
            <a:r>
              <a:rPr lang="en-US" sz="2250">
                <a:solidFill>
                  <a:srgbClr val="201F1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Affordable-housing road work</a:t>
            </a:r>
            <a:endParaRPr lang="en-US" sz="2250" dirty="0"/>
          </a:p>
        </p:txBody>
      </p:sp>
      <p:sp>
        <p:nvSpPr>
          <p:cNvPr id="31" name="Shape 29"/>
          <p:cNvSpPr/>
          <p:nvPr/>
        </p:nvSpPr>
        <p:spPr>
          <a:xfrm>
            <a:off x="12284969" y="7407077"/>
            <a:ext cx="3046016" cy="9525"/>
          </a:xfrm>
          <a:prstGeom prst="rect">
            <a:avLst/>
          </a:prstGeom>
          <a:solidFill>
            <a:srgbClr val="1F1F1F">
              <a:alpha val="16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12551669" y="6816527"/>
            <a:ext cx="2603996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47500" lnSpcReduction="20000"/>
          </a:bodyPr>
          <a:lstStyle/>
          <a:p>
            <a:pPr marL="0" indent="0" algn="l">
              <a:lnSpc>
                <a:spcPct val="134135"/>
              </a:lnSpc>
              <a:buNone/>
            </a:pPr>
            <a:r>
              <a:rPr lang="en-US" sz="2250">
                <a:solidFill>
                  <a:srgbClr val="201F1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AHS</a:t>
            </a:r>
            <a:endParaRPr lang="en-US" sz="2250" dirty="0"/>
          </a:p>
        </p:txBody>
      </p:sp>
      <p:sp>
        <p:nvSpPr>
          <p:cNvPr id="33" name="Shape 31"/>
          <p:cNvSpPr/>
          <p:nvPr/>
        </p:nvSpPr>
        <p:spPr>
          <a:xfrm>
            <a:off x="15330984" y="7407077"/>
            <a:ext cx="1585416" cy="9525"/>
          </a:xfrm>
          <a:prstGeom prst="rect">
            <a:avLst/>
          </a:prstGeom>
          <a:solidFill>
            <a:srgbClr val="1F1F1F">
              <a:alpha val="16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15597684" y="6816527"/>
            <a:ext cx="1394916" cy="23812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 fontScale="47500" lnSpcReduction="20000"/>
          </a:bodyPr>
          <a:lstStyle/>
          <a:p>
            <a:pPr marL="0" indent="0" algn="l">
              <a:lnSpc>
                <a:spcPct val="134135"/>
              </a:lnSpc>
              <a:buNone/>
            </a:pPr>
            <a:r>
              <a:rPr lang="en-US" sz="2250">
                <a:solidFill>
                  <a:srgbClr val="201F1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₹4.80 Cr</a:t>
            </a:r>
            <a:endParaRPr lang="en-US" sz="2250" dirty="0"/>
          </a:p>
        </p:txBody>
      </p:sp>
      <p:sp>
        <p:nvSpPr>
          <p:cNvPr id="35" name="Shape 33"/>
          <p:cNvSpPr/>
          <p:nvPr/>
        </p:nvSpPr>
        <p:spPr>
          <a:xfrm>
            <a:off x="1371600" y="8394502"/>
            <a:ext cx="5334000" cy="9525"/>
          </a:xfrm>
          <a:prstGeom prst="rect">
            <a:avLst/>
          </a:prstGeom>
          <a:solidFill>
            <a:srgbClr val="1F1F1F">
              <a:alpha val="16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1371600" y="7803952"/>
            <a:ext cx="522732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47500" lnSpcReduction="20000"/>
          </a:bodyPr>
          <a:lstStyle/>
          <a:p>
            <a:pPr marL="0" indent="0" algn="l">
              <a:lnSpc>
                <a:spcPct val="134135"/>
              </a:lnSpc>
              <a:buNone/>
            </a:pPr>
            <a:r>
              <a:rPr lang="en-US" sz="2250">
                <a:solidFill>
                  <a:srgbClr val="201F1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Gardenia villas, Bundi Road</a:t>
            </a:r>
            <a:endParaRPr lang="en-US" sz="2250" dirty="0"/>
          </a:p>
        </p:txBody>
      </p:sp>
      <p:sp>
        <p:nvSpPr>
          <p:cNvPr id="37" name="Shape 35"/>
          <p:cNvSpPr/>
          <p:nvPr/>
        </p:nvSpPr>
        <p:spPr>
          <a:xfrm>
            <a:off x="6705600" y="8394502"/>
            <a:ext cx="5579368" cy="9525"/>
          </a:xfrm>
          <a:prstGeom prst="rect">
            <a:avLst/>
          </a:prstGeom>
          <a:solidFill>
            <a:srgbClr val="1F1F1F">
              <a:alpha val="16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6972300" y="7803952"/>
            <a:ext cx="5213349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47500" lnSpcReduction="20000"/>
          </a:bodyPr>
          <a:lstStyle/>
          <a:p>
            <a:pPr marL="0" indent="0" algn="l">
              <a:lnSpc>
                <a:spcPct val="134135"/>
              </a:lnSpc>
              <a:buNone/>
            </a:pPr>
            <a:r>
              <a:rPr lang="en-US" sz="2250">
                <a:solidFill>
                  <a:srgbClr val="201F1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Villa construction, 2023–24</a:t>
            </a:r>
            <a:endParaRPr lang="en-US" sz="2250" dirty="0"/>
          </a:p>
        </p:txBody>
      </p:sp>
      <p:sp>
        <p:nvSpPr>
          <p:cNvPr id="39" name="Shape 37"/>
          <p:cNvSpPr/>
          <p:nvPr/>
        </p:nvSpPr>
        <p:spPr>
          <a:xfrm>
            <a:off x="12284969" y="8394502"/>
            <a:ext cx="3046016" cy="9525"/>
          </a:xfrm>
          <a:prstGeom prst="rect">
            <a:avLst/>
          </a:prstGeom>
          <a:solidFill>
            <a:srgbClr val="1F1F1F">
              <a:alpha val="16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12551669" y="7803952"/>
            <a:ext cx="2603996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47500" lnSpcReduction="20000"/>
          </a:bodyPr>
          <a:lstStyle/>
          <a:p>
            <a:pPr marL="0" indent="0" algn="l">
              <a:lnSpc>
                <a:spcPct val="134135"/>
              </a:lnSpc>
              <a:buNone/>
            </a:pPr>
            <a:r>
              <a:rPr lang="en-US" sz="2250">
                <a:solidFill>
                  <a:srgbClr val="201F1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Orilite Life Space</a:t>
            </a:r>
            <a:endParaRPr lang="en-US" sz="2250" dirty="0"/>
          </a:p>
        </p:txBody>
      </p:sp>
      <p:sp>
        <p:nvSpPr>
          <p:cNvPr id="41" name="Shape 39"/>
          <p:cNvSpPr/>
          <p:nvPr/>
        </p:nvSpPr>
        <p:spPr>
          <a:xfrm>
            <a:off x="15330984" y="8394502"/>
            <a:ext cx="1585416" cy="9525"/>
          </a:xfrm>
          <a:prstGeom prst="rect">
            <a:avLst/>
          </a:prstGeom>
          <a:solidFill>
            <a:srgbClr val="1F1F1F">
              <a:alpha val="16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15597684" y="7803952"/>
            <a:ext cx="1394916" cy="23812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 fontScale="47500" lnSpcReduction="20000"/>
          </a:bodyPr>
          <a:lstStyle/>
          <a:p>
            <a:pPr marL="0" indent="0" algn="l">
              <a:lnSpc>
                <a:spcPct val="134135"/>
              </a:lnSpc>
              <a:buNone/>
            </a:pPr>
            <a:r>
              <a:rPr lang="en-US" sz="2250">
                <a:solidFill>
                  <a:srgbClr val="201F1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₹3.80 Cr</a:t>
            </a:r>
            <a:endParaRPr lang="en-US" sz="2250" dirty="0"/>
          </a:p>
        </p:txBody>
      </p:sp>
      <p:sp>
        <p:nvSpPr>
          <p:cNvPr id="43" name="Shape 41"/>
          <p:cNvSpPr/>
          <p:nvPr/>
        </p:nvSpPr>
        <p:spPr>
          <a:xfrm>
            <a:off x="1371600" y="9381927"/>
            <a:ext cx="5334000" cy="9525"/>
          </a:xfrm>
          <a:prstGeom prst="rect">
            <a:avLst/>
          </a:prstGeom>
          <a:solidFill>
            <a:srgbClr val="1F1F1F">
              <a:alpha val="16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1371600" y="8791377"/>
            <a:ext cx="522732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47500" lnSpcReduction="20000"/>
          </a:bodyPr>
          <a:lstStyle/>
          <a:p>
            <a:pPr marL="0" indent="0" algn="l">
              <a:lnSpc>
                <a:spcPct val="134135"/>
              </a:lnSpc>
              <a:buNone/>
            </a:pPr>
            <a:r>
              <a:rPr lang="en-US" sz="2250">
                <a:solidFill>
                  <a:srgbClr val="201F1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Royal Villa, Baran Road</a:t>
            </a:r>
            <a:endParaRPr lang="en-US" sz="2250" dirty="0"/>
          </a:p>
        </p:txBody>
      </p:sp>
      <p:sp>
        <p:nvSpPr>
          <p:cNvPr id="45" name="Shape 43"/>
          <p:cNvSpPr/>
          <p:nvPr/>
        </p:nvSpPr>
        <p:spPr>
          <a:xfrm>
            <a:off x="6705600" y="9381927"/>
            <a:ext cx="5579368" cy="9525"/>
          </a:xfrm>
          <a:prstGeom prst="rect">
            <a:avLst/>
          </a:prstGeom>
          <a:solidFill>
            <a:srgbClr val="1F1F1F">
              <a:alpha val="16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6972300" y="8791377"/>
            <a:ext cx="5213349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47500" lnSpcReduction="20000"/>
          </a:bodyPr>
          <a:lstStyle/>
          <a:p>
            <a:pPr marL="0" indent="0" algn="l">
              <a:lnSpc>
                <a:spcPct val="134135"/>
              </a:lnSpc>
              <a:buNone/>
            </a:pPr>
            <a:r>
              <a:rPr lang="en-US" sz="2250">
                <a:solidFill>
                  <a:srgbClr val="201F1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25 row houses, 2022–24</a:t>
            </a:r>
            <a:endParaRPr lang="en-US" sz="2250" dirty="0"/>
          </a:p>
        </p:txBody>
      </p:sp>
      <p:sp>
        <p:nvSpPr>
          <p:cNvPr id="47" name="Shape 45"/>
          <p:cNvSpPr/>
          <p:nvPr/>
        </p:nvSpPr>
        <p:spPr>
          <a:xfrm>
            <a:off x="12284969" y="9381927"/>
            <a:ext cx="3046016" cy="9525"/>
          </a:xfrm>
          <a:prstGeom prst="rect">
            <a:avLst/>
          </a:prstGeom>
          <a:solidFill>
            <a:srgbClr val="1F1F1F">
              <a:alpha val="16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12551669" y="8791377"/>
            <a:ext cx="2603996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47500" lnSpcReduction="20000"/>
          </a:bodyPr>
          <a:lstStyle/>
          <a:p>
            <a:pPr marL="0" indent="0" algn="l">
              <a:lnSpc>
                <a:spcPct val="134135"/>
              </a:lnSpc>
              <a:buNone/>
            </a:pPr>
            <a:r>
              <a:rPr lang="en-US" sz="2250">
                <a:solidFill>
                  <a:srgbClr val="201F1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Royal Prime Ltd.</a:t>
            </a:r>
            <a:endParaRPr lang="en-US" sz="2250" dirty="0"/>
          </a:p>
        </p:txBody>
      </p:sp>
      <p:sp>
        <p:nvSpPr>
          <p:cNvPr id="49" name="Shape 47"/>
          <p:cNvSpPr/>
          <p:nvPr/>
        </p:nvSpPr>
        <p:spPr>
          <a:xfrm>
            <a:off x="15330984" y="9381927"/>
            <a:ext cx="1585416" cy="9525"/>
          </a:xfrm>
          <a:prstGeom prst="rect">
            <a:avLst/>
          </a:prstGeom>
          <a:solidFill>
            <a:srgbClr val="1F1F1F">
              <a:alpha val="16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15597684" y="8791377"/>
            <a:ext cx="1394916" cy="23812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 fontScale="47500" lnSpcReduction="20000"/>
          </a:bodyPr>
          <a:lstStyle/>
          <a:p>
            <a:pPr marL="0" indent="0" algn="l">
              <a:lnSpc>
                <a:spcPct val="134135"/>
              </a:lnSpc>
              <a:buNone/>
            </a:pPr>
            <a:r>
              <a:rPr lang="en-US" sz="2250">
                <a:solidFill>
                  <a:srgbClr val="201F1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₹9.40 Cr</a:t>
            </a:r>
            <a:endParaRPr lang="en-US" sz="2250" dirty="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5E848C83-CA8B-44BB-8228-2CFFB0EEE80D}"/>
              </a:ext>
            </a:extLst>
          </p:cNvPr>
          <p:cNvSpPr txBox="1"/>
          <p:nvPr/>
        </p:nvSpPr>
        <p:spPr>
          <a:xfrm>
            <a:off x="1371600" y="9728200"/>
            <a:ext cx="6604000" cy="3810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>
                <a:solidFill>
                  <a:srgbClr val="6E6B66"/>
                </a:solidFill>
                <a:latin typeface="Tahoma"/>
                <a:ea typeface="Tahoma"/>
                <a:cs typeface="Tahoma"/>
              </a:rPr>
              <a:t>Laddha Enterprises — Company Profile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625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51645" y="3440906"/>
            <a:ext cx="2992418" cy="2609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78337"/>
              </a:lnSpc>
              <a:buNone/>
            </a:pPr>
            <a:r>
              <a:rPr lang="en-US" sz="22500" kern="0" spc="-337">
                <a:solidFill>
                  <a:srgbClr val="B6823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03</a:t>
            </a:r>
            <a:endParaRPr lang="en-US" sz="22500" dirty="0"/>
          </a:p>
        </p:txBody>
      </p:sp>
      <p:sp>
        <p:nvSpPr>
          <p:cNvPr id="3" name="Text 1"/>
          <p:cNvSpPr/>
          <p:nvPr/>
        </p:nvSpPr>
        <p:spPr>
          <a:xfrm>
            <a:off x="1341239" y="6507956"/>
            <a:ext cx="5859106" cy="4905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0000" lnSpcReduction="20000"/>
          </a:bodyPr>
          <a:lstStyle/>
          <a:p>
            <a:pPr marL="0" indent="0" algn="l">
              <a:lnSpc>
                <a:spcPct val="89313"/>
              </a:lnSpc>
              <a:buNone/>
            </a:pPr>
            <a:r>
              <a:rPr lang="en-US" sz="5700" kern="0" spc="-57">
                <a:solidFill>
                  <a:srgbClr val="F3F2F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Government works</a:t>
            </a:r>
            <a:endParaRPr lang="en-US" sz="5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3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7F7F7F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 l="41" r="41"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3F2F2">
                  <a:alpha val="98000"/>
                </a:srgbClr>
              </a:gs>
              <a:gs pos="30000">
                <a:srgbClr val="F2F2F2">
                  <a:alpha val="88000"/>
                </a:srgbClr>
              </a:gs>
              <a:gs pos="52000">
                <a:srgbClr val="F4F2F2">
                  <a:alpha val="45000"/>
                </a:srgbClr>
              </a:gs>
              <a:gs pos="70000">
                <a:srgbClr val="F4F2F2">
                  <a:alpha val="0"/>
                </a:srgbClr>
              </a:gs>
            </a:gsLst>
            <a:lin ang="16200000" scaled="0"/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1341239" y="6977063"/>
            <a:ext cx="17132677" cy="4905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0000" lnSpcReduction="20000"/>
          </a:bodyPr>
          <a:lstStyle/>
          <a:p>
            <a:pPr marL="0" indent="0" algn="l">
              <a:lnSpc>
                <a:spcPct val="89313"/>
              </a:lnSpc>
              <a:buNone/>
            </a:pPr>
            <a:r>
              <a:rPr lang="en-US" sz="5700" kern="0" spc="-57">
                <a:solidFill>
                  <a:srgbClr val="201F1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Keshavpura flyover, Kota</a:t>
            </a:r>
            <a:endParaRPr lang="en-US" sz="5700" dirty="0"/>
          </a:p>
        </p:txBody>
      </p:sp>
      <p:sp>
        <p:nvSpPr>
          <p:cNvPr id="6" name="Text 3"/>
          <p:cNvSpPr/>
          <p:nvPr/>
        </p:nvSpPr>
        <p:spPr>
          <a:xfrm>
            <a:off x="1371600" y="8220075"/>
            <a:ext cx="9504164" cy="1228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250">
                <a:solidFill>
                  <a:srgbClr val="201F1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Bituminous work on the flyover corridor — 40,000 sqm tack coat, 2,000 cum DBM and 2,500 cum bituminous concrete, executed as a ₹4.5 Cr sub-contract.</a:t>
            </a:r>
            <a:endParaRPr lang="en-US" sz="2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3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41239" y="1528763"/>
            <a:ext cx="17132677" cy="4905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0000" lnSpcReduction="20000"/>
          </a:bodyPr>
          <a:lstStyle/>
          <a:p>
            <a:pPr marL="0" indent="0" algn="l">
              <a:lnSpc>
                <a:spcPct val="89313"/>
              </a:lnSpc>
              <a:buNone/>
            </a:pPr>
            <a:r>
              <a:rPr lang="en-US" sz="5700" kern="0" spc="-57">
                <a:solidFill>
                  <a:srgbClr val="201F1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Completed government works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1371600" y="4444802"/>
            <a:ext cx="5334000" cy="9525"/>
          </a:xfrm>
          <a:prstGeom prst="rect">
            <a:avLst/>
          </a:prstGeom>
          <a:solidFill>
            <a:srgbClr val="1F1F1F">
              <a:alpha val="16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371600" y="3875763"/>
            <a:ext cx="522732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b="1" kern="0" spc="144">
                <a:solidFill>
                  <a:srgbClr val="20201C">
                    <a:alpha val="60000"/>
                  </a:srgbClr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PROJECT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705600" y="4444802"/>
            <a:ext cx="2429173" cy="9525"/>
          </a:xfrm>
          <a:prstGeom prst="rect">
            <a:avLst/>
          </a:prstGeom>
          <a:solidFill>
            <a:srgbClr val="1F1F1F">
              <a:alpha val="16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972300" y="3875763"/>
            <a:ext cx="1971973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b="1" kern="0" spc="144">
                <a:solidFill>
                  <a:srgbClr val="20201C">
                    <a:alpha val="60000"/>
                  </a:srgbClr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YEAR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9134773" y="4444802"/>
            <a:ext cx="5792688" cy="9525"/>
          </a:xfrm>
          <a:prstGeom prst="rect">
            <a:avLst/>
          </a:prstGeom>
          <a:solidFill>
            <a:srgbClr val="1F1F1F">
              <a:alpha val="16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9401473" y="3875763"/>
            <a:ext cx="5433069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b="1" kern="0" spc="144">
                <a:solidFill>
                  <a:srgbClr val="20201C">
                    <a:alpha val="60000"/>
                  </a:srgbClr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CLIENT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4927461" y="4444802"/>
            <a:ext cx="1988939" cy="9525"/>
          </a:xfrm>
          <a:prstGeom prst="rect">
            <a:avLst/>
          </a:prstGeom>
          <a:solidFill>
            <a:srgbClr val="1F1F1F">
              <a:alpha val="16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5194161" y="3875763"/>
            <a:ext cx="1798439" cy="3048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b="1" kern="0" spc="144">
                <a:solidFill>
                  <a:srgbClr val="20201C">
                    <a:alpha val="60000"/>
                  </a:srgbClr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VALUE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371600" y="5537200"/>
            <a:ext cx="5334000" cy="9525"/>
          </a:xfrm>
          <a:prstGeom prst="rect">
            <a:avLst/>
          </a:prstGeom>
          <a:solidFill>
            <a:srgbClr val="1F1F1F">
              <a:alpha val="16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371600" y="4838700"/>
            <a:ext cx="5227320" cy="635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>
                <a:solidFill>
                  <a:srgbClr val="201F1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Coal-yard concrete (M-35), Mangalam plant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6705600" y="5537200"/>
            <a:ext cx="2429173" cy="9525"/>
          </a:xfrm>
          <a:prstGeom prst="rect">
            <a:avLst/>
          </a:prstGeom>
          <a:solidFill>
            <a:srgbClr val="1F1F1F">
              <a:alpha val="16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972300" y="4838700"/>
            <a:ext cx="1971973" cy="635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>
                <a:solidFill>
                  <a:srgbClr val="201F1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2021–22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9134773" y="5537200"/>
            <a:ext cx="5792688" cy="9525"/>
          </a:xfrm>
          <a:prstGeom prst="rect">
            <a:avLst/>
          </a:prstGeom>
          <a:solidFill>
            <a:srgbClr val="1F1F1F">
              <a:alpha val="16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9401473" y="4838700"/>
            <a:ext cx="5433069" cy="635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>
                <a:solidFill>
                  <a:srgbClr val="201F1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Mangalam Cement Ltd.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14927461" y="5537200"/>
            <a:ext cx="1988939" cy="9525"/>
          </a:xfrm>
          <a:prstGeom prst="rect">
            <a:avLst/>
          </a:prstGeom>
          <a:solidFill>
            <a:srgbClr val="1F1F1F">
              <a:alpha val="16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15194161" y="4838700"/>
            <a:ext cx="1798439" cy="6350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>
                <a:solidFill>
                  <a:srgbClr val="201F1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₹1.77 Cr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1371600" y="6515100"/>
            <a:ext cx="5334000" cy="9525"/>
          </a:xfrm>
          <a:prstGeom prst="rect">
            <a:avLst/>
          </a:prstGeom>
          <a:solidFill>
            <a:srgbClr val="1F1F1F">
              <a:alpha val="16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1371600" y="5816600"/>
            <a:ext cx="5227320" cy="635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>
                <a:solidFill>
                  <a:srgbClr val="201F1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Roads at Talwandi and Jawahar Nagar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6705600" y="6515100"/>
            <a:ext cx="2429173" cy="9525"/>
          </a:xfrm>
          <a:prstGeom prst="rect">
            <a:avLst/>
          </a:prstGeom>
          <a:solidFill>
            <a:srgbClr val="1F1F1F">
              <a:alpha val="16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972300" y="5816600"/>
            <a:ext cx="1971973" cy="635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>
                <a:solidFill>
                  <a:srgbClr val="201F1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2021–23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9134773" y="6515100"/>
            <a:ext cx="5792688" cy="9525"/>
          </a:xfrm>
          <a:prstGeom prst="rect">
            <a:avLst/>
          </a:prstGeom>
          <a:solidFill>
            <a:srgbClr val="1F1F1F">
              <a:alpha val="16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9401473" y="5816600"/>
            <a:ext cx="5433069" cy="635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>
                <a:solidFill>
                  <a:srgbClr val="201F1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UIT, Kota</a:t>
            </a:r>
            <a:endParaRPr lang="en-US" sz="2000" dirty="0"/>
          </a:p>
        </p:txBody>
      </p:sp>
      <p:sp>
        <p:nvSpPr>
          <p:cNvPr id="25" name="Shape 23"/>
          <p:cNvSpPr/>
          <p:nvPr/>
        </p:nvSpPr>
        <p:spPr>
          <a:xfrm>
            <a:off x="14927461" y="6515100"/>
            <a:ext cx="1988939" cy="9525"/>
          </a:xfrm>
          <a:prstGeom prst="rect">
            <a:avLst/>
          </a:prstGeom>
          <a:solidFill>
            <a:srgbClr val="1F1F1F">
              <a:alpha val="16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15194161" y="5816600"/>
            <a:ext cx="1798439" cy="6350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>
                <a:solidFill>
                  <a:srgbClr val="201F1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₹3.73 Cr</a:t>
            </a:r>
            <a:endParaRPr lang="en-US" sz="2000" dirty="0"/>
          </a:p>
        </p:txBody>
      </p:sp>
      <p:sp>
        <p:nvSpPr>
          <p:cNvPr id="27" name="Shape 25"/>
          <p:cNvSpPr/>
          <p:nvPr/>
        </p:nvSpPr>
        <p:spPr>
          <a:xfrm>
            <a:off x="1371600" y="7493000"/>
            <a:ext cx="5334000" cy="9525"/>
          </a:xfrm>
          <a:prstGeom prst="rect">
            <a:avLst/>
          </a:prstGeom>
          <a:solidFill>
            <a:srgbClr val="1F1F1F">
              <a:alpha val="16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1371600" y="6794500"/>
            <a:ext cx="5227320" cy="635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>
                <a:solidFill>
                  <a:srgbClr val="201F1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Aerodrome underpass road work</a:t>
            </a:r>
            <a:endParaRPr lang="en-US" sz="2000" dirty="0"/>
          </a:p>
        </p:txBody>
      </p:sp>
      <p:sp>
        <p:nvSpPr>
          <p:cNvPr id="29" name="Shape 27"/>
          <p:cNvSpPr/>
          <p:nvPr/>
        </p:nvSpPr>
        <p:spPr>
          <a:xfrm>
            <a:off x="6705600" y="7493000"/>
            <a:ext cx="2429173" cy="9525"/>
          </a:xfrm>
          <a:prstGeom prst="rect">
            <a:avLst/>
          </a:prstGeom>
          <a:solidFill>
            <a:srgbClr val="1F1F1F">
              <a:alpha val="16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6972300" y="6794500"/>
            <a:ext cx="1971973" cy="635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>
                <a:solidFill>
                  <a:srgbClr val="201F1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2021–22</a:t>
            </a:r>
            <a:endParaRPr lang="en-US" sz="2000" dirty="0"/>
          </a:p>
        </p:txBody>
      </p:sp>
      <p:sp>
        <p:nvSpPr>
          <p:cNvPr id="31" name="Shape 29"/>
          <p:cNvSpPr/>
          <p:nvPr/>
        </p:nvSpPr>
        <p:spPr>
          <a:xfrm>
            <a:off x="9134773" y="7493000"/>
            <a:ext cx="5792688" cy="9525"/>
          </a:xfrm>
          <a:prstGeom prst="rect">
            <a:avLst/>
          </a:prstGeom>
          <a:solidFill>
            <a:srgbClr val="1F1F1F">
              <a:alpha val="16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9401473" y="6794500"/>
            <a:ext cx="5433069" cy="635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>
                <a:solidFill>
                  <a:srgbClr val="201F1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Vijay M Mistry Construction</a:t>
            </a:r>
            <a:endParaRPr lang="en-US" sz="2000" dirty="0"/>
          </a:p>
        </p:txBody>
      </p:sp>
      <p:sp>
        <p:nvSpPr>
          <p:cNvPr id="33" name="Shape 31"/>
          <p:cNvSpPr/>
          <p:nvPr/>
        </p:nvSpPr>
        <p:spPr>
          <a:xfrm>
            <a:off x="14927461" y="7493000"/>
            <a:ext cx="1988939" cy="9525"/>
          </a:xfrm>
          <a:prstGeom prst="rect">
            <a:avLst/>
          </a:prstGeom>
          <a:solidFill>
            <a:srgbClr val="1F1F1F">
              <a:alpha val="16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15194161" y="6794500"/>
            <a:ext cx="1798439" cy="6350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>
                <a:solidFill>
                  <a:srgbClr val="201F1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₹3.50 Cr</a:t>
            </a:r>
            <a:endParaRPr lang="en-US" sz="2000" dirty="0"/>
          </a:p>
        </p:txBody>
      </p:sp>
      <p:sp>
        <p:nvSpPr>
          <p:cNvPr id="35" name="Shape 33"/>
          <p:cNvSpPr/>
          <p:nvPr/>
        </p:nvSpPr>
        <p:spPr>
          <a:xfrm>
            <a:off x="1371600" y="8470900"/>
            <a:ext cx="5334000" cy="9525"/>
          </a:xfrm>
          <a:prstGeom prst="rect">
            <a:avLst/>
          </a:prstGeom>
          <a:solidFill>
            <a:srgbClr val="1F1F1F">
              <a:alpha val="16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1371600" y="7772400"/>
            <a:ext cx="5227320" cy="635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>
                <a:solidFill>
                  <a:srgbClr val="201F1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Danbari–Keshavpura flyover, Rangbari Road</a:t>
            </a:r>
            <a:endParaRPr lang="en-US" sz="2000" dirty="0"/>
          </a:p>
        </p:txBody>
      </p:sp>
      <p:sp>
        <p:nvSpPr>
          <p:cNvPr id="37" name="Shape 35"/>
          <p:cNvSpPr/>
          <p:nvPr/>
        </p:nvSpPr>
        <p:spPr>
          <a:xfrm>
            <a:off x="6705600" y="8470900"/>
            <a:ext cx="2429173" cy="9525"/>
          </a:xfrm>
          <a:prstGeom prst="rect">
            <a:avLst/>
          </a:prstGeom>
          <a:solidFill>
            <a:srgbClr val="1F1F1F">
              <a:alpha val="16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6972300" y="7772400"/>
            <a:ext cx="1971973" cy="635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>
                <a:solidFill>
                  <a:srgbClr val="201F1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2020–22</a:t>
            </a:r>
            <a:endParaRPr lang="en-US" sz="2000" dirty="0"/>
          </a:p>
        </p:txBody>
      </p:sp>
      <p:sp>
        <p:nvSpPr>
          <p:cNvPr id="39" name="Shape 37"/>
          <p:cNvSpPr/>
          <p:nvPr/>
        </p:nvSpPr>
        <p:spPr>
          <a:xfrm>
            <a:off x="9134773" y="8470900"/>
            <a:ext cx="5792688" cy="9525"/>
          </a:xfrm>
          <a:prstGeom prst="rect">
            <a:avLst/>
          </a:prstGeom>
          <a:solidFill>
            <a:srgbClr val="1F1F1F">
              <a:alpha val="16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9401473" y="7772400"/>
            <a:ext cx="5433069" cy="635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>
                <a:solidFill>
                  <a:srgbClr val="201F1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Vijay M Mistry Construction</a:t>
            </a:r>
            <a:endParaRPr lang="en-US" sz="2000" dirty="0"/>
          </a:p>
        </p:txBody>
      </p:sp>
      <p:sp>
        <p:nvSpPr>
          <p:cNvPr id="41" name="Shape 39"/>
          <p:cNvSpPr/>
          <p:nvPr/>
        </p:nvSpPr>
        <p:spPr>
          <a:xfrm>
            <a:off x="14927461" y="8470900"/>
            <a:ext cx="1988939" cy="9525"/>
          </a:xfrm>
          <a:prstGeom prst="rect">
            <a:avLst/>
          </a:prstGeom>
          <a:solidFill>
            <a:srgbClr val="1F1F1F">
              <a:alpha val="16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15194161" y="7772400"/>
            <a:ext cx="1798439" cy="6350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>
                <a:solidFill>
                  <a:srgbClr val="201F1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₹5.80 Cr</a:t>
            </a:r>
            <a:endParaRPr lang="en-US" sz="2000" dirty="0"/>
          </a:p>
        </p:txBody>
      </p:sp>
      <p:sp>
        <p:nvSpPr>
          <p:cNvPr id="43" name="Shape 41"/>
          <p:cNvSpPr/>
          <p:nvPr/>
        </p:nvSpPr>
        <p:spPr>
          <a:xfrm>
            <a:off x="1371600" y="9448800"/>
            <a:ext cx="5334000" cy="9525"/>
          </a:xfrm>
          <a:prstGeom prst="rect">
            <a:avLst/>
          </a:prstGeom>
          <a:solidFill>
            <a:srgbClr val="1F1F1F">
              <a:alpha val="16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1371600" y="8750300"/>
            <a:ext cx="5227320" cy="635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>
                <a:solidFill>
                  <a:srgbClr val="201F1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Indira Gandhi flyover</a:t>
            </a:r>
            <a:endParaRPr lang="en-US" sz="2000" dirty="0"/>
          </a:p>
        </p:txBody>
      </p:sp>
      <p:sp>
        <p:nvSpPr>
          <p:cNvPr id="45" name="Shape 43"/>
          <p:cNvSpPr/>
          <p:nvPr/>
        </p:nvSpPr>
        <p:spPr>
          <a:xfrm>
            <a:off x="6705600" y="9448800"/>
            <a:ext cx="2429173" cy="9525"/>
          </a:xfrm>
          <a:prstGeom prst="rect">
            <a:avLst/>
          </a:prstGeom>
          <a:solidFill>
            <a:srgbClr val="1F1F1F">
              <a:alpha val="16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6972300" y="8750300"/>
            <a:ext cx="1971973" cy="635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>
                <a:solidFill>
                  <a:srgbClr val="201F1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2021–23</a:t>
            </a:r>
            <a:endParaRPr lang="en-US" sz="2000" dirty="0"/>
          </a:p>
        </p:txBody>
      </p:sp>
      <p:sp>
        <p:nvSpPr>
          <p:cNvPr id="47" name="Shape 45"/>
          <p:cNvSpPr/>
          <p:nvPr/>
        </p:nvSpPr>
        <p:spPr>
          <a:xfrm>
            <a:off x="9134773" y="9448800"/>
            <a:ext cx="5792688" cy="9525"/>
          </a:xfrm>
          <a:prstGeom prst="rect">
            <a:avLst/>
          </a:prstGeom>
          <a:solidFill>
            <a:srgbClr val="1F1F1F">
              <a:alpha val="16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9401473" y="8750300"/>
            <a:ext cx="5433069" cy="635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>
                <a:solidFill>
                  <a:srgbClr val="201F1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Vijay M Mistry Construction</a:t>
            </a:r>
            <a:endParaRPr lang="en-US" sz="2000" dirty="0"/>
          </a:p>
        </p:txBody>
      </p:sp>
      <p:sp>
        <p:nvSpPr>
          <p:cNvPr id="49" name="Shape 47"/>
          <p:cNvSpPr/>
          <p:nvPr/>
        </p:nvSpPr>
        <p:spPr>
          <a:xfrm>
            <a:off x="14927461" y="9448800"/>
            <a:ext cx="1988939" cy="9525"/>
          </a:xfrm>
          <a:prstGeom prst="rect">
            <a:avLst/>
          </a:prstGeom>
          <a:solidFill>
            <a:srgbClr val="1F1F1F">
              <a:alpha val="16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15194161" y="8750300"/>
            <a:ext cx="1798439" cy="6350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>
                <a:solidFill>
                  <a:srgbClr val="201F1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₹4.50 Cr</a:t>
            </a:r>
            <a:endParaRPr lang="en-US" sz="2000" dirty="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07CAFE5F-74C7-4E4B-B2AD-A3EBE5E364A1}"/>
              </a:ext>
            </a:extLst>
          </p:cNvPr>
          <p:cNvSpPr txBox="1"/>
          <p:nvPr/>
        </p:nvSpPr>
        <p:spPr>
          <a:xfrm>
            <a:off x="1371600" y="9728200"/>
            <a:ext cx="6604000" cy="3810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>
                <a:solidFill>
                  <a:srgbClr val="6E6B66"/>
                </a:solidFill>
                <a:latin typeface="Tahoma"/>
                <a:ea typeface="Tahoma"/>
                <a:cs typeface="Tahoma"/>
              </a:rPr>
              <a:t>Laddha Enterprises — Company Profile</a:t>
            </a:r>
          </a:p>
        </p:txBody>
      </p:sp>
    </p:spTree>
    <p:extLst>
      <p:ext uri="{BB962C8B-B14F-4D97-AF65-F5344CB8AC3E}">
        <p14:creationId xmlns:p14="http://schemas.microsoft.com/office/powerpoint/2010/main" val="8749460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3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41239" y="3536156"/>
            <a:ext cx="6738997" cy="4905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0000" lnSpcReduction="20000"/>
          </a:bodyPr>
          <a:lstStyle/>
          <a:p>
            <a:pPr marL="0" indent="0" algn="l">
              <a:lnSpc>
                <a:spcPct val="89313"/>
              </a:lnSpc>
              <a:buNone/>
            </a:pPr>
            <a:r>
              <a:rPr lang="en-US" sz="5700" kern="0" spc="-57">
                <a:solidFill>
                  <a:srgbClr val="201F1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Heritage restoration</a:t>
            </a:r>
            <a:endParaRPr lang="en-US" sz="5700" dirty="0"/>
          </a:p>
        </p:txBody>
      </p:sp>
      <p:sp>
        <p:nvSpPr>
          <p:cNvPr id="3" name="Text 1"/>
          <p:cNvSpPr/>
          <p:nvPr/>
        </p:nvSpPr>
        <p:spPr>
          <a:xfrm>
            <a:off x="1371600" y="4388644"/>
            <a:ext cx="6278880" cy="2514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250">
                <a:solidFill>
                  <a:srgbClr val="211F1D">
                    <a:alpha val="55000"/>
                  </a:srgbClr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Restoration of historic bawaris — stepwells — at Bundi (₹1.70 Cr, Nagar Nigam) and across the Hadoti region (₹1.90 Cr, UIT), completed in 2024–25, with further bawaris now under restoration at Jaipur (₹4.50 Cr).</a:t>
            </a:r>
            <a:endParaRPr lang="en-US" sz="2250" dirty="0"/>
          </a:p>
        </p:txBody>
      </p:sp>
      <p:sp>
        <p:nvSpPr>
          <p:cNvPr id="4" name="Shape 2"/>
          <p:cNvSpPr/>
          <p:nvPr/>
        </p:nvSpPr>
        <p:spPr>
          <a:xfrm>
            <a:off x="8382000" y="1485900"/>
            <a:ext cx="8534400" cy="7429500"/>
          </a:xfrm>
          <a:prstGeom prst="rect">
            <a:avLst/>
          </a:prstGeom>
          <a:ln w="133350">
            <a:solidFill>
              <a:srgbClr val="EAE9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515350" y="1619250"/>
            <a:ext cx="8267700" cy="7162800"/>
          </a:xfrm>
          <a:prstGeom prst="rect">
            <a:avLst/>
          </a:prstGeom>
          <a:solidFill>
            <a:srgbClr val="7F7F7F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 t="2606" b="2606"/>
          <a:stretch/>
        </p:blipFill>
        <p:spPr>
          <a:xfrm>
            <a:off x="8515350" y="1619250"/>
            <a:ext cx="8267700" cy="71628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ABBACB6-B280-4A55-90FD-F895B0D1B007}"/>
              </a:ext>
            </a:extLst>
          </p:cNvPr>
          <p:cNvSpPr txBox="1"/>
          <p:nvPr/>
        </p:nvSpPr>
        <p:spPr>
          <a:xfrm>
            <a:off x="1371600" y="9728200"/>
            <a:ext cx="6604000" cy="3810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>
                <a:solidFill>
                  <a:srgbClr val="6E6B66"/>
                </a:solidFill>
                <a:latin typeface="Tahoma"/>
                <a:ea typeface="Tahoma"/>
                <a:cs typeface="Tahoma"/>
              </a:rPr>
              <a:t>Laddha Enterprises — Company Profile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2625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51645" y="3440906"/>
            <a:ext cx="2992418" cy="2609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78337"/>
              </a:lnSpc>
              <a:buNone/>
            </a:pPr>
            <a:r>
              <a:rPr lang="en-US" sz="22500" kern="0" spc="-337">
                <a:solidFill>
                  <a:srgbClr val="B6823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04</a:t>
            </a:r>
            <a:endParaRPr lang="en-US" sz="22500" dirty="0"/>
          </a:p>
        </p:txBody>
      </p:sp>
      <p:sp>
        <p:nvSpPr>
          <p:cNvPr id="3" name="Text 1"/>
          <p:cNvSpPr/>
          <p:nvPr/>
        </p:nvSpPr>
        <p:spPr>
          <a:xfrm>
            <a:off x="1341239" y="6507956"/>
            <a:ext cx="6657796" cy="4905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0000" lnSpcReduction="20000"/>
          </a:bodyPr>
          <a:lstStyle/>
          <a:p>
            <a:pPr marL="0" indent="0" algn="l">
              <a:lnSpc>
                <a:spcPct val="89313"/>
              </a:lnSpc>
              <a:buNone/>
            </a:pPr>
            <a:r>
              <a:rPr lang="en-US" sz="5700" kern="0" spc="-57">
                <a:solidFill>
                  <a:srgbClr val="F3F2F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Capability and clients</a:t>
            </a:r>
            <a:endParaRPr lang="en-US" sz="57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3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71600" y="830560"/>
            <a:ext cx="4278858" cy="19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47500" lnSpcReduction="20000"/>
          </a:bodyPr>
          <a:lstStyle/>
          <a:p>
            <a:pPr marL="0" indent="0" algn="l">
              <a:lnSpc>
                <a:spcPct val="132857"/>
              </a:lnSpc>
              <a:buNone/>
            </a:pPr>
            <a:r>
              <a:rPr lang="en-US" sz="1800" kern="0" spc="144">
                <a:solidFill>
                  <a:srgbClr val="B6823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04 · CAPABILITY AND CLIENTS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3889" y="2638425"/>
            <a:ext cx="17558763" cy="3276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86882"/>
              </a:lnSpc>
              <a:buNone/>
            </a:pPr>
            <a:r>
              <a:rPr lang="en-US" sz="25500" kern="0" spc="-510">
                <a:solidFill>
                  <a:srgbClr val="B6823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₹87.5 Cr</a:t>
            </a:r>
            <a:endParaRPr lang="en-US" sz="25500" dirty="0"/>
          </a:p>
        </p:txBody>
      </p:sp>
      <p:sp>
        <p:nvSpPr>
          <p:cNvPr id="4" name="Text 2"/>
          <p:cNvSpPr/>
          <p:nvPr/>
        </p:nvSpPr>
        <p:spPr>
          <a:xfrm>
            <a:off x="1371600" y="6276975"/>
            <a:ext cx="8042056" cy="1524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250">
                <a:solidFill>
                  <a:srgbClr val="211F1D">
                    <a:alpha val="55000"/>
                  </a:srgbClr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The current order book, across five ongoing works — roads, townships, industrial infrastructure and heritage restoration.</a:t>
            </a:r>
            <a:endParaRPr lang="en-US" sz="225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91A0A27-3DE2-4BE2-9FB9-FFB8FE276554}"/>
              </a:ext>
            </a:extLst>
          </p:cNvPr>
          <p:cNvSpPr txBox="1"/>
          <p:nvPr/>
        </p:nvSpPr>
        <p:spPr>
          <a:xfrm>
            <a:off x="1371600" y="9728200"/>
            <a:ext cx="6604000" cy="3810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>
                <a:solidFill>
                  <a:srgbClr val="6E6B66"/>
                </a:solidFill>
                <a:latin typeface="Tahoma"/>
                <a:ea typeface="Tahoma"/>
                <a:cs typeface="Tahoma"/>
              </a:rPr>
              <a:t>Laddha Enterprises — Company Profile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3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41239" y="1528763"/>
            <a:ext cx="17132677" cy="4905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0000" lnSpcReduction="20000"/>
          </a:bodyPr>
          <a:lstStyle/>
          <a:p>
            <a:pPr marL="0" indent="0" algn="l">
              <a:lnSpc>
                <a:spcPct val="89313"/>
              </a:lnSpc>
              <a:buNone/>
            </a:pPr>
            <a:r>
              <a:rPr lang="en-US" sz="5700" kern="0" spc="-57">
                <a:solidFill>
                  <a:srgbClr val="201F1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Ongoing projects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1371600" y="4444802"/>
            <a:ext cx="5334000" cy="9525"/>
          </a:xfrm>
          <a:prstGeom prst="rect">
            <a:avLst/>
          </a:prstGeom>
          <a:solidFill>
            <a:srgbClr val="1F1F1F">
              <a:alpha val="16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371600" y="3875763"/>
            <a:ext cx="522732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b="1" kern="0" spc="144">
                <a:solidFill>
                  <a:srgbClr val="20201C">
                    <a:alpha val="60000"/>
                  </a:srgbClr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PROJECT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705600" y="4444802"/>
            <a:ext cx="2520752" cy="9525"/>
          </a:xfrm>
          <a:prstGeom prst="rect">
            <a:avLst/>
          </a:prstGeom>
          <a:solidFill>
            <a:srgbClr val="1F1F1F">
              <a:alpha val="16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972300" y="3875763"/>
            <a:ext cx="2063552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b="1" kern="0" spc="144">
                <a:solidFill>
                  <a:srgbClr val="20201C">
                    <a:alpha val="60000"/>
                  </a:srgbClr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YEAR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9226352" y="4444802"/>
            <a:ext cx="5368330" cy="9525"/>
          </a:xfrm>
          <a:prstGeom prst="rect">
            <a:avLst/>
          </a:prstGeom>
          <a:solidFill>
            <a:srgbClr val="1F1F1F">
              <a:alpha val="16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9493052" y="3875763"/>
            <a:ext cx="499598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b="1" kern="0" spc="144">
                <a:solidFill>
                  <a:srgbClr val="20201C">
                    <a:alpha val="60000"/>
                  </a:srgbClr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CLIENT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4594681" y="4444802"/>
            <a:ext cx="2321719" cy="9525"/>
          </a:xfrm>
          <a:prstGeom prst="rect">
            <a:avLst/>
          </a:prstGeom>
          <a:solidFill>
            <a:srgbClr val="1F1F1F">
              <a:alpha val="16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4861381" y="3875763"/>
            <a:ext cx="2131219" cy="3048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b="1" kern="0" spc="144">
                <a:solidFill>
                  <a:srgbClr val="20201C">
                    <a:alpha val="60000"/>
                  </a:srgbClr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VALUE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371600" y="5537200"/>
            <a:ext cx="5334000" cy="9525"/>
          </a:xfrm>
          <a:prstGeom prst="rect">
            <a:avLst/>
          </a:prstGeom>
          <a:solidFill>
            <a:srgbClr val="1F1F1F">
              <a:alpha val="16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371600" y="4838700"/>
            <a:ext cx="5227320" cy="635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>
                <a:solidFill>
                  <a:srgbClr val="201F1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Ummedganj–Kaithun road (8 km)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6705600" y="5537200"/>
            <a:ext cx="2520752" cy="9525"/>
          </a:xfrm>
          <a:prstGeom prst="rect">
            <a:avLst/>
          </a:prstGeom>
          <a:solidFill>
            <a:srgbClr val="1F1F1F">
              <a:alpha val="16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972300" y="4838700"/>
            <a:ext cx="2063552" cy="635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>
                <a:solidFill>
                  <a:srgbClr val="201F1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2022–24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9226352" y="5537200"/>
            <a:ext cx="5368330" cy="9525"/>
          </a:xfrm>
          <a:prstGeom prst="rect">
            <a:avLst/>
          </a:prstGeom>
          <a:solidFill>
            <a:srgbClr val="1F1F1F">
              <a:alpha val="16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9493052" y="4838700"/>
            <a:ext cx="4995980" cy="635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>
                <a:solidFill>
                  <a:srgbClr val="201F1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UIT, Kota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14594681" y="5537200"/>
            <a:ext cx="2321719" cy="9525"/>
          </a:xfrm>
          <a:prstGeom prst="rect">
            <a:avLst/>
          </a:prstGeom>
          <a:solidFill>
            <a:srgbClr val="1F1F1F">
              <a:alpha val="16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14861381" y="4838700"/>
            <a:ext cx="2131219" cy="6350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>
                <a:solidFill>
                  <a:srgbClr val="201F1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₹18.40 Cr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1371600" y="6515100"/>
            <a:ext cx="5334000" cy="9525"/>
          </a:xfrm>
          <a:prstGeom prst="rect">
            <a:avLst/>
          </a:prstGeom>
          <a:solidFill>
            <a:srgbClr val="1F1F1F">
              <a:alpha val="16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1371600" y="5816600"/>
            <a:ext cx="5227320" cy="635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>
                <a:solidFill>
                  <a:srgbClr val="201F1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Gardenia township — gardens and roads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6705600" y="6515100"/>
            <a:ext cx="2520752" cy="9525"/>
          </a:xfrm>
          <a:prstGeom prst="rect">
            <a:avLst/>
          </a:prstGeom>
          <a:solidFill>
            <a:srgbClr val="1F1F1F">
              <a:alpha val="16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972300" y="5816600"/>
            <a:ext cx="2063552" cy="635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>
                <a:solidFill>
                  <a:srgbClr val="201F1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2022–24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9226352" y="6515100"/>
            <a:ext cx="5368330" cy="9525"/>
          </a:xfrm>
          <a:prstGeom prst="rect">
            <a:avLst/>
          </a:prstGeom>
          <a:solidFill>
            <a:srgbClr val="1F1F1F">
              <a:alpha val="16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9493052" y="5816600"/>
            <a:ext cx="4995980" cy="635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>
                <a:solidFill>
                  <a:srgbClr val="201F1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Orilite Life Space</a:t>
            </a:r>
            <a:endParaRPr lang="en-US" sz="2000" dirty="0"/>
          </a:p>
        </p:txBody>
      </p:sp>
      <p:sp>
        <p:nvSpPr>
          <p:cNvPr id="25" name="Shape 23"/>
          <p:cNvSpPr/>
          <p:nvPr/>
        </p:nvSpPr>
        <p:spPr>
          <a:xfrm>
            <a:off x="14594681" y="6515100"/>
            <a:ext cx="2321719" cy="9525"/>
          </a:xfrm>
          <a:prstGeom prst="rect">
            <a:avLst/>
          </a:prstGeom>
          <a:solidFill>
            <a:srgbClr val="1F1F1F">
              <a:alpha val="16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14861381" y="5816600"/>
            <a:ext cx="2131219" cy="6350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>
                <a:solidFill>
                  <a:srgbClr val="201F1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₹6.50 Cr</a:t>
            </a:r>
            <a:endParaRPr lang="en-US" sz="2000" dirty="0"/>
          </a:p>
        </p:txBody>
      </p:sp>
      <p:sp>
        <p:nvSpPr>
          <p:cNvPr id="27" name="Shape 25"/>
          <p:cNvSpPr/>
          <p:nvPr/>
        </p:nvSpPr>
        <p:spPr>
          <a:xfrm>
            <a:off x="1371600" y="7493000"/>
            <a:ext cx="5334000" cy="9525"/>
          </a:xfrm>
          <a:prstGeom prst="rect">
            <a:avLst/>
          </a:prstGeom>
          <a:solidFill>
            <a:srgbClr val="1F1F1F">
              <a:alpha val="16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1371600" y="6794500"/>
            <a:ext cx="5227320" cy="635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>
                <a:solidFill>
                  <a:srgbClr val="201F1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Urbana Techno Park, Mandana — industrial township</a:t>
            </a:r>
            <a:endParaRPr lang="en-US" sz="2000" dirty="0"/>
          </a:p>
        </p:txBody>
      </p:sp>
      <p:sp>
        <p:nvSpPr>
          <p:cNvPr id="29" name="Shape 27"/>
          <p:cNvSpPr/>
          <p:nvPr/>
        </p:nvSpPr>
        <p:spPr>
          <a:xfrm>
            <a:off x="6705600" y="7493000"/>
            <a:ext cx="2520752" cy="9525"/>
          </a:xfrm>
          <a:prstGeom prst="rect">
            <a:avLst/>
          </a:prstGeom>
          <a:solidFill>
            <a:srgbClr val="1F1F1F">
              <a:alpha val="16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6972300" y="6794500"/>
            <a:ext cx="2063552" cy="635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>
                <a:solidFill>
                  <a:srgbClr val="201F1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2025–27</a:t>
            </a:r>
            <a:endParaRPr lang="en-US" sz="2000" dirty="0"/>
          </a:p>
        </p:txBody>
      </p:sp>
      <p:sp>
        <p:nvSpPr>
          <p:cNvPr id="31" name="Shape 29"/>
          <p:cNvSpPr/>
          <p:nvPr/>
        </p:nvSpPr>
        <p:spPr>
          <a:xfrm>
            <a:off x="9226352" y="7493000"/>
            <a:ext cx="5368330" cy="9525"/>
          </a:xfrm>
          <a:prstGeom prst="rect">
            <a:avLst/>
          </a:prstGeom>
          <a:solidFill>
            <a:srgbClr val="1F1F1F">
              <a:alpha val="16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9493052" y="6794500"/>
            <a:ext cx="4995980" cy="635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>
                <a:solidFill>
                  <a:srgbClr val="201F1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Urbana Techno Park LLP</a:t>
            </a:r>
            <a:endParaRPr lang="en-US" sz="2000" dirty="0"/>
          </a:p>
        </p:txBody>
      </p:sp>
      <p:sp>
        <p:nvSpPr>
          <p:cNvPr id="33" name="Shape 31"/>
          <p:cNvSpPr/>
          <p:nvPr/>
        </p:nvSpPr>
        <p:spPr>
          <a:xfrm>
            <a:off x="14594681" y="7493000"/>
            <a:ext cx="2321719" cy="9525"/>
          </a:xfrm>
          <a:prstGeom prst="rect">
            <a:avLst/>
          </a:prstGeom>
          <a:solidFill>
            <a:srgbClr val="1F1F1F">
              <a:alpha val="16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14861381" y="6794500"/>
            <a:ext cx="2131219" cy="6350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>
                <a:solidFill>
                  <a:srgbClr val="201F1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₹45.15 Cr</a:t>
            </a:r>
            <a:endParaRPr lang="en-US" sz="2000" dirty="0"/>
          </a:p>
        </p:txBody>
      </p:sp>
      <p:sp>
        <p:nvSpPr>
          <p:cNvPr id="35" name="Shape 33"/>
          <p:cNvSpPr/>
          <p:nvPr/>
        </p:nvSpPr>
        <p:spPr>
          <a:xfrm>
            <a:off x="1371600" y="8470900"/>
            <a:ext cx="5334000" cy="9525"/>
          </a:xfrm>
          <a:prstGeom prst="rect">
            <a:avLst/>
          </a:prstGeom>
          <a:solidFill>
            <a:srgbClr val="1F1F1F">
              <a:alpha val="16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1371600" y="7772400"/>
            <a:ext cx="5227320" cy="635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>
                <a:solidFill>
                  <a:srgbClr val="201F1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Industrial township development, Bhilwara</a:t>
            </a:r>
            <a:endParaRPr lang="en-US" sz="2000" dirty="0"/>
          </a:p>
        </p:txBody>
      </p:sp>
      <p:sp>
        <p:nvSpPr>
          <p:cNvPr id="37" name="Shape 35"/>
          <p:cNvSpPr/>
          <p:nvPr/>
        </p:nvSpPr>
        <p:spPr>
          <a:xfrm>
            <a:off x="6705600" y="8470900"/>
            <a:ext cx="2520752" cy="9525"/>
          </a:xfrm>
          <a:prstGeom prst="rect">
            <a:avLst/>
          </a:prstGeom>
          <a:solidFill>
            <a:srgbClr val="1F1F1F">
              <a:alpha val="16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6972300" y="7772400"/>
            <a:ext cx="2063552" cy="635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>
                <a:solidFill>
                  <a:srgbClr val="201F1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—</a:t>
            </a:r>
            <a:endParaRPr lang="en-US" sz="2000" dirty="0"/>
          </a:p>
        </p:txBody>
      </p:sp>
      <p:sp>
        <p:nvSpPr>
          <p:cNvPr id="39" name="Shape 37"/>
          <p:cNvSpPr/>
          <p:nvPr/>
        </p:nvSpPr>
        <p:spPr>
          <a:xfrm>
            <a:off x="9226352" y="8470900"/>
            <a:ext cx="5368330" cy="9525"/>
          </a:xfrm>
          <a:prstGeom prst="rect">
            <a:avLst/>
          </a:prstGeom>
          <a:solidFill>
            <a:srgbClr val="1F1F1F">
              <a:alpha val="16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9493052" y="7772400"/>
            <a:ext cx="4995980" cy="635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>
                <a:solidFill>
                  <a:srgbClr val="201F1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Golcha Group</a:t>
            </a:r>
            <a:endParaRPr lang="en-US" sz="2000" dirty="0"/>
          </a:p>
        </p:txBody>
      </p:sp>
      <p:sp>
        <p:nvSpPr>
          <p:cNvPr id="41" name="Shape 39"/>
          <p:cNvSpPr/>
          <p:nvPr/>
        </p:nvSpPr>
        <p:spPr>
          <a:xfrm>
            <a:off x="14594681" y="8470900"/>
            <a:ext cx="2321719" cy="9525"/>
          </a:xfrm>
          <a:prstGeom prst="rect">
            <a:avLst/>
          </a:prstGeom>
          <a:solidFill>
            <a:srgbClr val="1F1F1F">
              <a:alpha val="16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14861381" y="7772400"/>
            <a:ext cx="2131219" cy="6350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>
                <a:solidFill>
                  <a:srgbClr val="201F1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₹13.00 Cr</a:t>
            </a:r>
            <a:endParaRPr lang="en-US" sz="2000" dirty="0"/>
          </a:p>
        </p:txBody>
      </p:sp>
      <p:sp>
        <p:nvSpPr>
          <p:cNvPr id="43" name="Shape 41"/>
          <p:cNvSpPr/>
          <p:nvPr/>
        </p:nvSpPr>
        <p:spPr>
          <a:xfrm>
            <a:off x="1371600" y="9448800"/>
            <a:ext cx="5334000" cy="9525"/>
          </a:xfrm>
          <a:prstGeom prst="rect">
            <a:avLst/>
          </a:prstGeom>
          <a:solidFill>
            <a:srgbClr val="1F1F1F">
              <a:alpha val="16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1371600" y="8750300"/>
            <a:ext cx="5227320" cy="635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>
                <a:solidFill>
                  <a:srgbClr val="201F1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Restoration of different bawaris, Jaipur</a:t>
            </a:r>
            <a:endParaRPr lang="en-US" sz="2000" dirty="0"/>
          </a:p>
        </p:txBody>
      </p:sp>
      <p:sp>
        <p:nvSpPr>
          <p:cNvPr id="45" name="Shape 43"/>
          <p:cNvSpPr/>
          <p:nvPr/>
        </p:nvSpPr>
        <p:spPr>
          <a:xfrm>
            <a:off x="6705600" y="9448800"/>
            <a:ext cx="2520752" cy="9525"/>
          </a:xfrm>
          <a:prstGeom prst="rect">
            <a:avLst/>
          </a:prstGeom>
          <a:solidFill>
            <a:srgbClr val="1F1F1F">
              <a:alpha val="16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6972300" y="8750300"/>
            <a:ext cx="2063552" cy="635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>
                <a:solidFill>
                  <a:srgbClr val="201F1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—</a:t>
            </a:r>
            <a:endParaRPr lang="en-US" sz="2000" dirty="0"/>
          </a:p>
        </p:txBody>
      </p:sp>
      <p:sp>
        <p:nvSpPr>
          <p:cNvPr id="47" name="Shape 45"/>
          <p:cNvSpPr/>
          <p:nvPr/>
        </p:nvSpPr>
        <p:spPr>
          <a:xfrm>
            <a:off x="9226352" y="9448800"/>
            <a:ext cx="5368330" cy="9525"/>
          </a:xfrm>
          <a:prstGeom prst="rect">
            <a:avLst/>
          </a:prstGeom>
          <a:solidFill>
            <a:srgbClr val="1F1F1F">
              <a:alpha val="16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9493052" y="8750300"/>
            <a:ext cx="4995980" cy="635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>
                <a:solidFill>
                  <a:srgbClr val="201F1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—</a:t>
            </a:r>
            <a:endParaRPr lang="en-US" sz="2000" dirty="0"/>
          </a:p>
        </p:txBody>
      </p:sp>
      <p:sp>
        <p:nvSpPr>
          <p:cNvPr id="49" name="Shape 47"/>
          <p:cNvSpPr/>
          <p:nvPr/>
        </p:nvSpPr>
        <p:spPr>
          <a:xfrm>
            <a:off x="14594681" y="9448800"/>
            <a:ext cx="2321719" cy="9525"/>
          </a:xfrm>
          <a:prstGeom prst="rect">
            <a:avLst/>
          </a:prstGeom>
          <a:solidFill>
            <a:srgbClr val="1F1F1F">
              <a:alpha val="16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14861381" y="8750300"/>
            <a:ext cx="2131219" cy="6350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>
                <a:solidFill>
                  <a:srgbClr val="201F1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₹4.50 Cr</a:t>
            </a:r>
            <a:endParaRPr lang="en-US" sz="2000" dirty="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F5046252-E553-4CF8-8E36-7F71C937B3DE}"/>
              </a:ext>
            </a:extLst>
          </p:cNvPr>
          <p:cNvSpPr txBox="1"/>
          <p:nvPr/>
        </p:nvSpPr>
        <p:spPr>
          <a:xfrm>
            <a:off x="1371600" y="9728200"/>
            <a:ext cx="6604000" cy="3810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>
                <a:solidFill>
                  <a:srgbClr val="6E6B66"/>
                </a:solidFill>
                <a:latin typeface="Tahoma"/>
                <a:ea typeface="Tahoma"/>
                <a:cs typeface="Tahoma"/>
              </a:rPr>
              <a:t>Laddha Enterprises — Company Profile</a:t>
            </a:r>
          </a:p>
        </p:txBody>
      </p:sp>
    </p:spTree>
    <p:extLst>
      <p:ext uri="{BB962C8B-B14F-4D97-AF65-F5344CB8AC3E}">
        <p14:creationId xmlns:p14="http://schemas.microsoft.com/office/powerpoint/2010/main" val="45002125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3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287000"/>
          </a:xfrm>
          <a:prstGeom prst="rect">
            <a:avLst/>
          </a:prstGeom>
          <a:solidFill>
            <a:srgbClr val="7F7F7F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 t="7704" b="7704"/>
          <a:stretch/>
        </p:blipFill>
        <p:spPr>
          <a:xfrm>
            <a:off x="0" y="0"/>
            <a:ext cx="9144000" cy="102870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485140" y="1528763"/>
            <a:ext cx="6705600" cy="4905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0000" lnSpcReduction="20000"/>
          </a:bodyPr>
          <a:lstStyle/>
          <a:p>
            <a:pPr marL="0" indent="0" algn="l">
              <a:lnSpc>
                <a:spcPct val="89313"/>
              </a:lnSpc>
              <a:buNone/>
            </a:pPr>
            <a:r>
              <a:rPr lang="en-US" sz="5700" kern="0" spc="-57">
                <a:solidFill>
                  <a:srgbClr val="201F1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Urbana Techno Park</a:t>
            </a:r>
            <a:endParaRPr lang="en-US" sz="5700" dirty="0"/>
          </a:p>
        </p:txBody>
      </p:sp>
      <p:sp>
        <p:nvSpPr>
          <p:cNvPr id="5" name="Text 2"/>
          <p:cNvSpPr/>
          <p:nvPr/>
        </p:nvSpPr>
        <p:spPr>
          <a:xfrm>
            <a:off x="10275570" y="3722291"/>
            <a:ext cx="6412230" cy="52308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5806"/>
              </a:lnSpc>
              <a:buNone/>
            </a:pPr>
            <a:r>
              <a:rPr lang="en-US" sz="2700">
                <a:solidFill>
                  <a:srgbClr val="201F1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Development of an industrial township at Mandana</a:t>
            </a:r>
            <a:endParaRPr lang="en-US" sz="2700" dirty="0"/>
          </a:p>
          <a:p>
            <a:pPr marL="0" indent="0" algn="l">
              <a:lnSpc>
                <a:spcPct val="125806"/>
              </a:lnSpc>
              <a:buNone/>
            </a:pPr>
            <a:r>
              <a:rPr lang="en-US" sz="2700">
                <a:solidFill>
                  <a:srgbClr val="201F1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Roads, civil and water-supply infrastructure</a:t>
            </a:r>
            <a:endParaRPr lang="en-US" sz="2700" dirty="0"/>
          </a:p>
          <a:p>
            <a:pPr marL="0" indent="0" algn="l">
              <a:lnSpc>
                <a:spcPct val="125806"/>
              </a:lnSpc>
              <a:buNone/>
            </a:pPr>
            <a:r>
              <a:rPr lang="en-US" sz="2700">
                <a:solidFill>
                  <a:srgbClr val="201F1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Complete electrical works — overhead power line, 32 kV GSS and 33 kV feeder</a:t>
            </a:r>
            <a:endParaRPr lang="en-US" sz="2700" dirty="0"/>
          </a:p>
          <a:p>
            <a:pPr marL="0" indent="0" algn="l">
              <a:lnSpc>
                <a:spcPct val="125806"/>
              </a:lnSpc>
              <a:buNone/>
            </a:pPr>
            <a:r>
              <a:rPr lang="en-US" sz="2700">
                <a:solidFill>
                  <a:srgbClr val="201F1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Order value ₹45.15 Cr, 2025–27</a:t>
            </a:r>
            <a:endParaRPr lang="en-US" sz="27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5D8CAA0-0823-4E46-B356-772C86EB18D9}"/>
              </a:ext>
            </a:extLst>
          </p:cNvPr>
          <p:cNvSpPr txBox="1"/>
          <p:nvPr/>
        </p:nvSpPr>
        <p:spPr>
          <a:xfrm>
            <a:off x="1371600" y="9728200"/>
            <a:ext cx="6604000" cy="3810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>
                <a:solidFill>
                  <a:srgbClr val="6E6B66"/>
                </a:solidFill>
                <a:latin typeface="Tahoma"/>
                <a:ea typeface="Tahoma"/>
                <a:cs typeface="Tahoma"/>
              </a:rPr>
              <a:t>Laddha Enterprises — Company Profile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3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41239" y="1528763"/>
            <a:ext cx="17132677" cy="4905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0000" lnSpcReduction="20000"/>
          </a:bodyPr>
          <a:lstStyle/>
          <a:p>
            <a:pPr marL="0" indent="0" algn="l">
              <a:lnSpc>
                <a:spcPct val="89313"/>
              </a:lnSpc>
              <a:buNone/>
            </a:pPr>
            <a:r>
              <a:rPr lang="en-US" sz="5700" kern="0" spc="-57">
                <a:solidFill>
                  <a:srgbClr val="201F1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Turnover, last three years</a:t>
            </a:r>
            <a:endParaRPr lang="en-US" sz="5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71600" y="2647950"/>
            <a:ext cx="15544800" cy="44577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8246666"/>
            <a:ext cx="13305933" cy="7067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77273"/>
              </a:lnSpc>
              <a:buNone/>
            </a:pPr>
            <a:r>
              <a:rPr lang="en-US" sz="1950">
                <a:solidFill>
                  <a:srgbClr val="211F1D">
                    <a:alpha val="55000"/>
                  </a:srgbClr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Annual turnover in crore rupees — a forty per cent rise over three financial years, with FY 2023–24 the strongest year to date.</a:t>
            </a:r>
            <a:endParaRPr lang="en-US" sz="195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3C6C1FF-4794-4C59-A407-FE9772FCB53C}"/>
              </a:ext>
            </a:extLst>
          </p:cNvPr>
          <p:cNvSpPr txBox="1"/>
          <p:nvPr/>
        </p:nvSpPr>
        <p:spPr>
          <a:xfrm>
            <a:off x="1371600" y="9728200"/>
            <a:ext cx="6604000" cy="3810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>
                <a:solidFill>
                  <a:srgbClr val="6E6B66"/>
                </a:solidFill>
                <a:latin typeface="Tahoma"/>
                <a:ea typeface="Tahoma"/>
                <a:cs typeface="Tahoma"/>
              </a:rPr>
              <a:t>Laddha Enterprises — Company Profile</a:t>
            </a:r>
          </a:p>
        </p:txBody>
      </p:sp>
    </p:spTree>
    <p:extLst>
      <p:ext uri="{BB962C8B-B14F-4D97-AF65-F5344CB8AC3E}">
        <p14:creationId xmlns:p14="http://schemas.microsoft.com/office/powerpoint/2010/main" val="51587711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3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41239" y="1528763"/>
            <a:ext cx="17132677" cy="4905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0000" lnSpcReduction="20000"/>
          </a:bodyPr>
          <a:lstStyle/>
          <a:p>
            <a:pPr marL="0" indent="0" algn="l">
              <a:lnSpc>
                <a:spcPct val="89313"/>
              </a:lnSpc>
              <a:buNone/>
            </a:pPr>
            <a:r>
              <a:rPr lang="en-US" sz="5700" kern="0" spc="-57">
                <a:solidFill>
                  <a:srgbClr val="201F1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Plant and machinery</a:t>
            </a:r>
            <a:endParaRPr lang="en-US" sz="5700" dirty="0"/>
          </a:p>
        </p:txBody>
      </p:sp>
      <p:sp>
        <p:nvSpPr>
          <p:cNvPr id="3" name="Text 1"/>
          <p:cNvSpPr/>
          <p:nvPr/>
        </p:nvSpPr>
        <p:spPr>
          <a:xfrm>
            <a:off x="1371600" y="3181350"/>
            <a:ext cx="497332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62500" lnSpcReduction="20000"/>
          </a:bodyPr>
          <a:lstStyle/>
          <a:p>
            <a:pPr marL="0" indent="0" algn="l">
              <a:lnSpc>
                <a:spcPct val="95122"/>
              </a:lnSpc>
              <a:buNone/>
            </a:pPr>
            <a:r>
              <a:rPr lang="en-US" sz="3600" kern="0" spc="-54">
                <a:solidFill>
                  <a:srgbClr val="201F1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Earthmoving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1371600" y="3762375"/>
            <a:ext cx="4656836" cy="2219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250">
                <a:solidFill>
                  <a:srgbClr val="201F1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Three Poclain excavators, two JCB machines and one grader, supported by three tractors and five dumpers for haulage across sites.</a:t>
            </a:r>
            <a:endParaRPr lang="en-US" sz="2250"/>
          </a:p>
        </p:txBody>
      </p:sp>
      <p:sp>
        <p:nvSpPr>
          <p:cNvPr id="5" name="Text 3"/>
          <p:cNvSpPr/>
          <p:nvPr/>
        </p:nvSpPr>
        <p:spPr>
          <a:xfrm>
            <a:off x="6883400" y="3181350"/>
            <a:ext cx="497332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62500" lnSpcReduction="20000"/>
          </a:bodyPr>
          <a:lstStyle/>
          <a:p>
            <a:pPr marL="0" indent="0" algn="l">
              <a:lnSpc>
                <a:spcPct val="95122"/>
              </a:lnSpc>
              <a:buNone/>
            </a:pPr>
            <a:r>
              <a:rPr lang="en-US" sz="3600" kern="0" spc="-54">
                <a:solidFill>
                  <a:srgbClr val="201F1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Compaction and paving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6883400" y="3762375"/>
            <a:ext cx="4656836" cy="1724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250">
                <a:solidFill>
                  <a:srgbClr val="201F1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Two paver finishers laid ahead of one vibratory roller, one tandem roller and three static rollers — a complete surfacing train.</a:t>
            </a:r>
            <a:endParaRPr lang="en-US" sz="2250"/>
          </a:p>
        </p:txBody>
      </p:sp>
      <p:sp>
        <p:nvSpPr>
          <p:cNvPr id="7" name="Text 5"/>
          <p:cNvSpPr/>
          <p:nvPr/>
        </p:nvSpPr>
        <p:spPr>
          <a:xfrm>
            <a:off x="12395200" y="3181350"/>
            <a:ext cx="497332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62500" lnSpcReduction="20000"/>
          </a:bodyPr>
          <a:lstStyle/>
          <a:p>
            <a:pPr marL="0" indent="0" algn="l">
              <a:lnSpc>
                <a:spcPct val="95122"/>
              </a:lnSpc>
              <a:buNone/>
            </a:pPr>
            <a:r>
              <a:rPr lang="en-US" sz="3600" kern="0" spc="-54">
                <a:solidFill>
                  <a:srgbClr val="201F1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Bituminous and concrete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12395200" y="3762375"/>
            <a:ext cx="4656836" cy="1724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250">
                <a:solidFill>
                  <a:srgbClr val="201F1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Two bitumen plants of 60 and 55 TPH, two tar boilers, one compressor and three Ajax Fiori self-loading concrete mixers.</a:t>
            </a:r>
            <a:endParaRPr lang="en-US" sz="225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F926E20-F320-451B-8560-5E2946A00F7E}"/>
              </a:ext>
            </a:extLst>
          </p:cNvPr>
          <p:cNvSpPr txBox="1"/>
          <p:nvPr/>
        </p:nvSpPr>
        <p:spPr>
          <a:xfrm>
            <a:off x="1371600" y="9728200"/>
            <a:ext cx="6604000" cy="3810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>
                <a:solidFill>
                  <a:srgbClr val="6E6B66"/>
                </a:solidFill>
                <a:latin typeface="Tahoma"/>
                <a:ea typeface="Tahoma"/>
                <a:cs typeface="Tahoma"/>
              </a:rPr>
              <a:t>Laddha Enterprises — Company Profile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3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41239" y="1528763"/>
            <a:ext cx="17132677" cy="4905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0000" lnSpcReduction="20000"/>
          </a:bodyPr>
          <a:lstStyle/>
          <a:p>
            <a:pPr marL="0" indent="0" algn="l">
              <a:lnSpc>
                <a:spcPct val="89313"/>
              </a:lnSpc>
              <a:buNone/>
            </a:pPr>
            <a:r>
              <a:rPr lang="en-US" sz="5700" kern="0" spc="-57">
                <a:solidFill>
                  <a:srgbClr val="201F1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Major clients</a:t>
            </a:r>
            <a:endParaRPr lang="en-US" sz="5700" dirty="0"/>
          </a:p>
        </p:txBody>
      </p:sp>
      <p:sp>
        <p:nvSpPr>
          <p:cNvPr id="3" name="Text 1"/>
          <p:cNvSpPr/>
          <p:nvPr/>
        </p:nvSpPr>
        <p:spPr>
          <a:xfrm>
            <a:off x="1371600" y="3181350"/>
            <a:ext cx="800481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62500" lnSpcReduction="20000"/>
          </a:bodyPr>
          <a:lstStyle/>
          <a:p>
            <a:pPr marL="0" indent="0" algn="l">
              <a:lnSpc>
                <a:spcPct val="95122"/>
              </a:lnSpc>
              <a:buNone/>
            </a:pPr>
            <a:r>
              <a:rPr lang="en-US" sz="3600" kern="0" spc="-54">
                <a:solidFill>
                  <a:srgbClr val="201F1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Government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1371600" y="3762375"/>
            <a:ext cx="7495413" cy="1228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250">
                <a:solidFill>
                  <a:srgbClr val="201F1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PWD, UIT, Nagar Nigam, the Marketing Board and RIICO — road, flyover and restoration works delivered directly and as sub-contracts.</a:t>
            </a:r>
            <a:endParaRPr lang="en-US" sz="2250"/>
          </a:p>
        </p:txBody>
      </p:sp>
      <p:sp>
        <p:nvSpPr>
          <p:cNvPr id="5" name="Text 3"/>
          <p:cNvSpPr/>
          <p:nvPr/>
        </p:nvSpPr>
        <p:spPr>
          <a:xfrm>
            <a:off x="9639300" y="3181350"/>
            <a:ext cx="800481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62500" lnSpcReduction="20000"/>
          </a:bodyPr>
          <a:lstStyle/>
          <a:p>
            <a:pPr marL="0" indent="0" algn="l">
              <a:lnSpc>
                <a:spcPct val="95122"/>
              </a:lnSpc>
              <a:buNone/>
            </a:pPr>
            <a:r>
              <a:rPr lang="en-US" sz="3600" kern="0" spc="-54">
                <a:solidFill>
                  <a:srgbClr val="201F1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Private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9639300" y="3762375"/>
            <a:ext cx="7495413" cy="1228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250">
                <a:solidFill>
                  <a:srgbClr val="201F1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Bhatia Colonizer, Shubham Group, Suwalka &amp; Suwalka, Multimetal Ltd., Orilite Life Space LLP and Urbana Techno Park LLP.</a:t>
            </a:r>
            <a:endParaRPr lang="en-US" sz="225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A68F27A-0516-4A14-81EC-07C86ACF45B3}"/>
              </a:ext>
            </a:extLst>
          </p:cNvPr>
          <p:cNvSpPr txBox="1"/>
          <p:nvPr/>
        </p:nvSpPr>
        <p:spPr>
          <a:xfrm>
            <a:off x="1371600" y="9728200"/>
            <a:ext cx="6604000" cy="3810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>
                <a:solidFill>
                  <a:srgbClr val="6E6B66"/>
                </a:solidFill>
                <a:latin typeface="Tahoma"/>
                <a:ea typeface="Tahoma"/>
                <a:cs typeface="Tahoma"/>
              </a:rPr>
              <a:t>Laddha Enterprises — Company Profile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3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15641" y="3886200"/>
            <a:ext cx="17160835" cy="1276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80579"/>
              </a:lnSpc>
              <a:buNone/>
            </a:pPr>
            <a:r>
              <a:rPr lang="en-US" sz="10500" kern="0" spc="-158">
                <a:solidFill>
                  <a:srgbClr val="201F1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Thank you</a:t>
            </a:r>
            <a:endParaRPr lang="en-US" sz="10500" dirty="0"/>
          </a:p>
        </p:txBody>
      </p:sp>
      <p:sp>
        <p:nvSpPr>
          <p:cNvPr id="3" name="Text 1"/>
          <p:cNvSpPr/>
          <p:nvPr/>
        </p:nvSpPr>
        <p:spPr>
          <a:xfrm>
            <a:off x="1371600" y="5524500"/>
            <a:ext cx="16459200" cy="1028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8333"/>
              </a:lnSpc>
              <a:buNone/>
            </a:pPr>
            <a:r>
              <a:rPr lang="en-US" sz="3150">
                <a:solidFill>
                  <a:srgbClr val="211F1D">
                    <a:alpha val="55000"/>
                  </a:srgbClr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Laddha Enterprises — civil construction services, Kota, Rajasthan. Established 2008.</a:t>
            </a:r>
            <a:endParaRPr lang="en-US" sz="3150" dirty="0"/>
          </a:p>
        </p:txBody>
      </p:sp>
      <p:sp>
        <p:nvSpPr>
          <p:cNvPr id="4" name="Text 2"/>
          <p:cNvSpPr/>
          <p:nvPr/>
        </p:nvSpPr>
        <p:spPr>
          <a:xfrm>
            <a:off x="1371600" y="8763000"/>
            <a:ext cx="5461000" cy="3810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200" dirty="0">
                <a:solidFill>
                  <a:srgbClr val="211F1D">
                    <a:alpha val="80000"/>
                  </a:srgbClr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A-491 Indra Vihar, Kota, Rajasthan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620000" y="8763000"/>
            <a:ext cx="3302000" cy="3810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200" dirty="0">
                <a:solidFill>
                  <a:srgbClr val="211F1D">
                    <a:alpha val="80000"/>
                  </a:srgbClr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+91 98293 54600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1684000" y="8763000"/>
            <a:ext cx="5080000" cy="3810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200" dirty="0">
                <a:solidFill>
                  <a:srgbClr val="211F1D">
                    <a:alpha val="80000"/>
                  </a:srgbClr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laddha.ankit1986@gmail.com</a:t>
            </a:r>
            <a:endParaRPr lang="en-US" sz="220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CE41E34-E372-4C76-B8F3-EB2ED06A2667}"/>
              </a:ext>
            </a:extLst>
          </p:cNvPr>
          <p:cNvSpPr/>
          <p:nvPr/>
        </p:nvSpPr>
        <p:spPr>
          <a:xfrm>
            <a:off x="1371600" y="8051800"/>
            <a:ext cx="812800" cy="88900"/>
          </a:xfrm>
          <a:prstGeom prst="rect">
            <a:avLst/>
          </a:prstGeom>
          <a:solidFill>
            <a:srgbClr val="B6823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3E50370-E724-4CAD-92D9-E32F20DD982C}"/>
              </a:ext>
            </a:extLst>
          </p:cNvPr>
          <p:cNvSpPr txBox="1"/>
          <p:nvPr/>
        </p:nvSpPr>
        <p:spPr>
          <a:xfrm>
            <a:off x="1371600" y="8407400"/>
            <a:ext cx="2540000" cy="2794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1400" b="1">
                <a:solidFill>
                  <a:srgbClr val="B68235"/>
                </a:solidFill>
                <a:latin typeface="Tahoma"/>
                <a:ea typeface="Tahoma"/>
                <a:cs typeface="Tahoma"/>
              </a:rPr>
              <a:t>ADDRESS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8409CA6-CC6D-4A56-8621-6B9E9296E3C7}"/>
              </a:ext>
            </a:extLst>
          </p:cNvPr>
          <p:cNvSpPr txBox="1"/>
          <p:nvPr/>
        </p:nvSpPr>
        <p:spPr>
          <a:xfrm>
            <a:off x="7620000" y="8407400"/>
            <a:ext cx="2540000" cy="2794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1400" b="1">
                <a:solidFill>
                  <a:srgbClr val="B68235"/>
                </a:solidFill>
                <a:latin typeface="Tahoma"/>
                <a:ea typeface="Tahoma"/>
                <a:cs typeface="Tahoma"/>
              </a:rPr>
              <a:t>PHONE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66DED83-8C2F-4E4A-A6CA-88AE58158014}"/>
              </a:ext>
            </a:extLst>
          </p:cNvPr>
          <p:cNvSpPr txBox="1"/>
          <p:nvPr/>
        </p:nvSpPr>
        <p:spPr>
          <a:xfrm>
            <a:off x="11684000" y="8407400"/>
            <a:ext cx="2540000" cy="2794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1400" b="1">
                <a:solidFill>
                  <a:srgbClr val="B68235"/>
                </a:solidFill>
                <a:latin typeface="Tahoma"/>
                <a:ea typeface="Tahoma"/>
                <a:cs typeface="Tahoma"/>
              </a:rPr>
              <a:t>EMAIL</a:t>
            </a:r>
          </a:p>
        </p:txBody>
      </p:sp>
    </p:spTree>
    <p:extLst>
      <p:ext uri="{BB962C8B-B14F-4D97-AF65-F5344CB8AC3E}">
        <p14:creationId xmlns:p14="http://schemas.microsoft.com/office/powerpoint/2010/main" val="3429538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Tahom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Tahoma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Tahoma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Tahoma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2" Type="http://schemas.microsoft.com/office/2011/relationships/webextension" Target="webextension2.xml"/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525" row="0">
    <wetp:webextensionref xmlns:r="http://schemas.openxmlformats.org/officeDocument/2006/relationships" r:id="rId1"/>
  </wetp:taskpane>
  <wetp:taskpane dockstate="right" visibility="0" width="525" row="2">
    <wetp:webextensionref xmlns:r="http://schemas.openxmlformats.org/officeDocument/2006/relationships" r:id="rId2"/>
  </wetp:taskpane>
</wetp:taskpanes>
</file>

<file path=ppt/webextensions/webextension1.xml><?xml version="1.0" encoding="utf-8"?>
<we:webextension xmlns:we="http://schemas.microsoft.com/office/webextensions/webextension/2010/11" id="{9B111A1A-5BCB-46E7-BC21-F259F65AB0CF}">
  <we:reference id="wa200010725" version="1.0.0.1" store="en-US" storeType="OMEX"/>
  <we:alternateReferences>
    <we:reference id="WA200010725" version="1.0.0.1" store="WA200010725" storeType="OMEX"/>
  </we:alternateReferences>
  <we:properties>
    <we:property name="claude.fileId" value="&quot;25e0860e-dea9-42bb-b3d8-38214f14ba6a&quot;"/>
  </we:properties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D9006F16-F3CA-4481-9CAC-75FF27100BA6}">
  <we:reference id="wa200010001" version="1.0.0.1" store="en-US" storeType="OMEX"/>
  <we:alternateReferences>
    <we:reference id="WA200010001" version="1.0.0.1" store="WA200010001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55</TotalTime>
  <Words>914</Words>
  <Application>Microsoft Office PowerPoint</Application>
  <PresentationFormat>Custom</PresentationFormat>
  <Paragraphs>188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3" baseType="lpstr">
      <vt:lpstr>Tahoma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Abhishek Jain</cp:lastModifiedBy>
  <cp:revision>3</cp:revision>
  <dcterms:created xsi:type="dcterms:W3CDTF">2026-07-27T17:44:04Z</dcterms:created>
  <dcterms:modified xsi:type="dcterms:W3CDTF">2026-07-27T18:44:28Z</dcterms:modified>
</cp:coreProperties>
</file>